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63" r:id="rId3"/>
    <p:sldId id="321" r:id="rId4"/>
    <p:sldId id="322" r:id="rId5"/>
    <p:sldId id="323" r:id="rId6"/>
    <p:sldId id="259" r:id="rId7"/>
    <p:sldId id="265" r:id="rId8"/>
    <p:sldId id="327" r:id="rId9"/>
    <p:sldId id="332" r:id="rId10"/>
    <p:sldId id="333" r:id="rId11"/>
    <p:sldId id="334" r:id="rId12"/>
    <p:sldId id="329" r:id="rId13"/>
    <p:sldId id="335" r:id="rId14"/>
    <p:sldId id="336" r:id="rId15"/>
    <p:sldId id="325" r:id="rId16"/>
    <p:sldId id="337" r:id="rId17"/>
    <p:sldId id="338" r:id="rId18"/>
    <p:sldId id="324" r:id="rId19"/>
    <p:sldId id="339" r:id="rId20"/>
    <p:sldId id="342" r:id="rId21"/>
    <p:sldId id="341" r:id="rId22"/>
    <p:sldId id="326" r:id="rId23"/>
    <p:sldId id="299" r:id="rId24"/>
    <p:sldId id="300" r:id="rId25"/>
    <p:sldId id="262" r:id="rId26"/>
    <p:sldId id="278" r:id="rId27"/>
    <p:sldId id="343" r:id="rId28"/>
  </p:sldIdLst>
  <p:sldSz cx="9144000" cy="5143500" type="screen16x9"/>
  <p:notesSz cx="6858000" cy="9144000"/>
  <p:embeddedFontLst>
    <p:embeddedFont>
      <p:font typeface="Arial Rounded MT Bold" panose="020F0704030504030204" pitchFamily="34" charset="0"/>
      <p:regular r:id="rId30"/>
    </p:embeddedFont>
    <p:embeddedFont>
      <p:font typeface="Barlow Bold" panose="020B0604020202020204" charset="0"/>
      <p:bold r:id="rId31"/>
    </p:embeddedFont>
    <p:embeddedFont>
      <p:font typeface="Jumble" panose="02000503000000020004" pitchFamily="2" charset="0"/>
      <p:regular r:id="rId32"/>
    </p:embeddedFont>
    <p:embeddedFont>
      <p:font typeface="Kulim Park" panose="020B0604020202020204" charset="0"/>
      <p:regular r:id="rId33"/>
      <p:bold r:id="rId34"/>
      <p:italic r:id="rId35"/>
      <p:boldItalic r:id="rId36"/>
    </p:embeddedFont>
    <p:embeddedFont>
      <p:font typeface="Kulim Park Light" panose="020B0604020202020204" charset="0"/>
      <p:regular r:id="rId37"/>
      <p:bold r:id="rId38"/>
      <p:italic r:id="rId39"/>
      <p:boldItalic r:id="rId40"/>
    </p:embeddedFont>
    <p:embeddedFont>
      <p:font typeface="noto sans" panose="020B0502040504020204" pitchFamily="34" charset="0"/>
      <p:regular r:id="rId41"/>
      <p:bold r:id="rId42"/>
      <p:italic r:id="rId43"/>
      <p:boldItalic r:id="rId44"/>
    </p:embeddedFont>
    <p:embeddedFont>
      <p:font typeface="Segoe UI" panose="020B0502040204020203" pitchFamily="34" charset="0"/>
      <p:regular r:id="rId45"/>
      <p:bold r:id="rId46"/>
      <p:italic r:id="rId47"/>
      <p:boldItalic r:id="rId48"/>
    </p:embeddedFont>
    <p:embeddedFont>
      <p:font typeface="Segoe UI Light" panose="020B0502040204020203" pitchFamily="34" charset="0"/>
      <p:regular r:id="rId49"/>
      <p:italic r:id="rId50"/>
    </p:embeddedFont>
    <p:embeddedFont>
      <p:font typeface="Segoe UI Semibold" panose="020B0702040204020203" pitchFamily="34" charset="0"/>
      <p:bold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25C"/>
    <a:srgbClr val="706F6F"/>
    <a:srgbClr val="006A6B"/>
    <a:srgbClr val="00B2C2"/>
    <a:srgbClr val="00B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ABD9CC-251A-45E8-9417-AC545C822575}" v="28" dt="2026-02-03T17:02:29.357"/>
  </p1510:revLst>
</p1510:revInfo>
</file>

<file path=ppt/tableStyles.xml><?xml version="1.0" encoding="utf-8"?>
<a:tblStyleLst xmlns:a="http://schemas.openxmlformats.org/drawingml/2006/main" def="{A6471979-4F55-4329-A02F-D7CC4A76CC44}">
  <a:tblStyle styleId="{A6471979-4F55-4329-A02F-D7CC4A76CC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350D49-ADD6-414F-94D5-E7D26D3637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50" autoAdjust="0"/>
    <p:restoredTop sz="53511" autoAdjust="0"/>
  </p:normalViewPr>
  <p:slideViewPr>
    <p:cSldViewPr snapToGrid="0">
      <p:cViewPr varScale="1">
        <p:scale>
          <a:sx n="67" d="100"/>
          <a:sy n="67" d="100"/>
        </p:scale>
        <p:origin x="228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font" Target="fonts/font20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font" Target="fonts/font2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Parra Guerra" userId="2e76f66f-c483-4588-8490-fd6b4358ea00" providerId="ADAL" clId="{056B6705-94EB-4F23-AA78-B957ABCAC9F4}"/>
    <pc:docChg chg="undo custSel addSld delSld modSld">
      <pc:chgData name="Sergio Parra Guerra" userId="2e76f66f-c483-4588-8490-fd6b4358ea00" providerId="ADAL" clId="{056B6705-94EB-4F23-AA78-B957ABCAC9F4}" dt="2026-02-03T17:02:28.841" v="129" actId="20577"/>
      <pc:docMkLst>
        <pc:docMk/>
      </pc:docMkLst>
      <pc:sldChg chg="add del">
        <pc:chgData name="Sergio Parra Guerra" userId="2e76f66f-c483-4588-8490-fd6b4358ea00" providerId="ADAL" clId="{056B6705-94EB-4F23-AA78-B957ABCAC9F4}" dt="2026-02-03T16:43:08.459" v="127" actId="2696"/>
        <pc:sldMkLst>
          <pc:docMk/>
          <pc:sldMk cId="0" sldId="258"/>
        </pc:sldMkLst>
      </pc:sldChg>
      <pc:sldChg chg="modNotesTx">
        <pc:chgData name="Sergio Parra Guerra" userId="2e76f66f-c483-4588-8490-fd6b4358ea00" providerId="ADAL" clId="{056B6705-94EB-4F23-AA78-B957ABCAC9F4}" dt="2026-02-03T16:04:45.020" v="126" actId="20577"/>
        <pc:sldMkLst>
          <pc:docMk/>
          <pc:sldMk cId="2224913216" sldId="300"/>
        </pc:sldMkLst>
      </pc:sldChg>
      <pc:sldChg chg="addSp delSp modSp mod delAnim">
        <pc:chgData name="Sergio Parra Guerra" userId="2e76f66f-c483-4588-8490-fd6b4358ea00" providerId="ADAL" clId="{056B6705-94EB-4F23-AA78-B957ABCAC9F4}" dt="2026-02-03T15:54:44.311" v="8" actId="478"/>
        <pc:sldMkLst>
          <pc:docMk/>
          <pc:sldMk cId="1000277155" sldId="321"/>
        </pc:sldMkLst>
        <pc:spChg chg="add mod">
          <ac:chgData name="Sergio Parra Guerra" userId="2e76f66f-c483-4588-8490-fd6b4358ea00" providerId="ADAL" clId="{056B6705-94EB-4F23-AA78-B957ABCAC9F4}" dt="2026-02-03T15:52:21.616" v="7" actId="1076"/>
          <ac:spMkLst>
            <pc:docMk/>
            <pc:sldMk cId="1000277155" sldId="321"/>
            <ac:spMk id="2" creationId="{8FA87CE8-6BA7-DFF9-3D71-D522DEF9753F}"/>
          </ac:spMkLst>
        </pc:spChg>
        <pc:picChg chg="del">
          <ac:chgData name="Sergio Parra Guerra" userId="2e76f66f-c483-4588-8490-fd6b4358ea00" providerId="ADAL" clId="{056B6705-94EB-4F23-AA78-B957ABCAC9F4}" dt="2026-02-03T15:54:44.311" v="8" actId="478"/>
          <ac:picMkLst>
            <pc:docMk/>
            <pc:sldMk cId="1000277155" sldId="321"/>
            <ac:picMk id="7" creationId="{7BBAE5FA-A7E7-4787-9950-F36EB881ABB4}"/>
          </ac:picMkLst>
        </pc:picChg>
      </pc:sldChg>
      <pc:sldChg chg="addSp modSp modNotesTx">
        <pc:chgData name="Sergio Parra Guerra" userId="2e76f66f-c483-4588-8490-fd6b4358ea00" providerId="ADAL" clId="{056B6705-94EB-4F23-AA78-B957ABCAC9F4}" dt="2026-02-03T17:02:28.841" v="129" actId="20577"/>
        <pc:sldMkLst>
          <pc:docMk/>
          <pc:sldMk cId="1422302379" sldId="337"/>
        </pc:sldMkLst>
        <pc:graphicFrameChg chg="add mod">
          <ac:chgData name="Sergio Parra Guerra" userId="2e76f66f-c483-4588-8490-fd6b4358ea00" providerId="ADAL" clId="{056B6705-94EB-4F23-AA78-B957ABCAC9F4}" dt="2026-02-03T15:57:09.188" v="9"/>
          <ac:graphicFrameMkLst>
            <pc:docMk/>
            <pc:sldMk cId="1422302379" sldId="337"/>
            <ac:graphicFrameMk id="2" creationId="{908F7BB3-77C4-68A8-9785-1C069BD91146}"/>
          </ac:graphicFrameMkLst>
        </pc:graphicFrameChg>
      </pc:sldChg>
      <pc:sldMasterChg chg="addSldLayout delSldLayout">
        <pc:chgData name="Sergio Parra Guerra" userId="2e76f66f-c483-4588-8490-fd6b4358ea00" providerId="ADAL" clId="{056B6705-94EB-4F23-AA78-B957ABCAC9F4}" dt="2026-02-03T16:43:08.459" v="127" actId="2696"/>
        <pc:sldMasterMkLst>
          <pc:docMk/>
          <pc:sldMasterMk cId="0" sldId="2147483660"/>
        </pc:sldMasterMkLst>
        <pc:sldLayoutChg chg="add del">
          <pc:chgData name="Sergio Parra Guerra" userId="2e76f66f-c483-4588-8490-fd6b4358ea00" providerId="ADAL" clId="{056B6705-94EB-4F23-AA78-B957ABCAC9F4}" dt="2026-02-03T16:43:08.459" v="127" actId="2696"/>
          <pc:sldLayoutMkLst>
            <pc:docMk/>
            <pc:sldMasterMk cId="0" sldId="2147483660"/>
            <pc:sldLayoutMk cId="0" sldId="214748365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090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Microsoft Connect 2016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Marcador de fecha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EEC551-8CDA-4EB6-89BB-2A86C9F091C8}" type="datetime8">
              <a:rPr lang="en-US" smtClean="0"/>
              <a:t>2/3/2026 4:51 PM</a:t>
            </a:fld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34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4BDE2D7-E9FD-9758-2C73-FC779960A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>
            <a:extLst>
              <a:ext uri="{FF2B5EF4-FFF2-40B4-BE49-F238E27FC236}">
                <a16:creationId xmlns:a16="http://schemas.microsoft.com/office/drawing/2014/main" id="{0F8CC0B2-9A5C-1E06-9AF2-1390A5583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>
            <a:extLst>
              <a:ext uri="{FF2B5EF4-FFF2-40B4-BE49-F238E27FC236}">
                <a16:creationId xmlns:a16="http://schemas.microsoft.com/office/drawing/2014/main" id="{F51CAFB9-8E4A-9B01-A595-6D07E910D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799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54E559AE-D5DD-BCA1-9789-DCF29679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1DA12D4D-B6B3-5067-A7F6-0C5CE65B9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F37C7852-C74F-2437-6D5D-7F59371333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3548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188A997-1401-77E0-0073-E94A918B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760D79EC-2B87-B9F6-9D8B-E47B51182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EA5790BC-FC38-F2EE-711A-E099E2E6B0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804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6443ECA-46D7-683E-F109-07B4A0F3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58750FCF-98FC-B605-36E2-8D953693B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D7596C14-EE77-B9A4-014A-AE56F833B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430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42B64563-435F-D8EB-EAF4-9C7C7BA6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84CD8FAE-AD95-9BFC-2AC2-C91DC3AE2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C4427D79-178E-5B43-3EE8-654AAE858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6990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BE04DF2-1678-CB55-A38B-FD6CB471D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5B4D67B0-1541-C0F1-DD02-D0AE80162A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8F37D2D7-9855-EC35-003B-B56300FB7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7191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E8A6C08C-70B3-C70C-911A-0FAFC63C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974F4F20-CE33-C92B-8B47-D70F2141A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BEB7E968-26CB-7B36-FB0F-FE8B54DD2C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540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918ED2B-3DF0-AC90-CD6C-CC289F59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F1FD6593-A8EB-4538-C256-93931142D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FCEBE649-CDFA-069C-7B9B-A8EE855C8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1732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8A2CA19-19EE-542C-0E5D-181CC6C7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3BF1A928-65B5-E67B-4913-0499282BE1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19988364-04FB-86E1-59DA-EC195A66D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310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3AA3EAD9-5915-DD78-DAB7-A4464DAAA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5758ABB4-A62A-0648-CAC1-A0E56FD05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8289BA6B-7816-597C-2642-28F3D1F68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Kubernetes Event-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driven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Autoscaling</a:t>
            </a:r>
            <a:endParaRPr lang="es-ES" sz="1100" b="1" i="0" u="none" strike="noStrike" cap="none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“En Azure Container Apps, KEDA permite un escalado inteligente, eficiente y automático basado en eventos reales del sistema. </a:t>
            </a:r>
          </a:p>
          <a:p>
            <a:pPr marL="13970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 flexible, soporta docenas de fuentes de eventos y te da un verdadero modelo serverless para contenedores.”</a:t>
            </a: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1. Qué es KEDA en ACA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Azure Container Apps usa 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KEDA como motor de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autoscaling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KEDA permite escalar contenedores 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 0 a 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 función de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eventos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no solo recursos.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Esto aporta un modelo de escalado más inteligente que el típico basado en CPU/RAM.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Idea clave para explicar: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KEDA convierte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triggers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externos en decisiones de escalado para tus microservicios.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Concepto de “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es un componente que 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escucha una fuente de eventos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Cada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expone dos cosas: </a:t>
            </a:r>
          </a:p>
          <a:p>
            <a:pPr lvl="1" fontAlgn="t"/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Metricas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indica si debe escalar.</a:t>
            </a:r>
          </a:p>
          <a:p>
            <a:pPr lvl="1" fontAlgn="t"/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Polling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frecuencia de revisión de eventos.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ACA se integra con más de 80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sin necesidad de escribir código adicional.</a:t>
            </a:r>
          </a:p>
          <a:p>
            <a:pPr marL="139700" indent="0" fontAlgn="t">
              <a:buNone/>
            </a:pP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 Tipos de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Scalers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más usados</a:t>
            </a: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Azure Queue Storage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según el número de mensajes.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Ideal para arquitecturas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event‑driven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simples.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Métrica habitual: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messages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per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worker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Azure Service Bus (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Queues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Topics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Muy usado en entornos empresariales por su robustez.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Permite escalar basado en: 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Mensajes activos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Mensajes programados</a:t>
            </a:r>
          </a:p>
          <a:p>
            <a:pPr lvl="1" fontAlgn="t"/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Dead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letters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Funciona muy bien para desacoplar microservicios.</a:t>
            </a: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</a:t>
            </a: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Activo en Azure exclusivamente como “HTTP Auto-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”.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ACA incorpora un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HTTP proxy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que analiza: 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RPS (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requests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per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second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Latencia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Concurrencia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automáticamente basándose en tráfico real.</a:t>
            </a: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Azure Cosmos DB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cuando la colección alcanza cierto nivel de RU/s consumidas.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Útil en aplicaciones altamente orientadas a lectura/escritura.</a:t>
            </a:r>
          </a:p>
          <a:p>
            <a:pPr marL="139700" indent="0" fontAlgn="t">
              <a:buNone/>
            </a:pP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Cron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Scaler</a:t>
            </a:r>
            <a:endParaRPr lang="es-ES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Muy práctico para cargas periódicas o planificadas.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Ejemplo: “aumentar réplicas cada noche a las 2AM para procesar lotes”.</a:t>
            </a:r>
          </a:p>
          <a:p>
            <a:pPr marL="139700" indent="0" fontAlgn="t">
              <a:buNone/>
            </a:pP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4. Cómo decide KEDA cuándo escalar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Puedes decirlo así: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KEDA ejecuta un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polling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cada X segundos.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 la métrica supera los umbrales configurados: </a:t>
            </a:r>
          </a:p>
          <a:p>
            <a:pPr lvl="1"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hacia arriba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aumenta réplicas.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 cae por debajo: </a:t>
            </a:r>
          </a:p>
          <a:p>
            <a:pPr lvl="1"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hacia abajo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→ reduce contenedores.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 si llega al mínimo permitido → 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 a 0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(solo si está permitido).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Esto explica el comportamiento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serverless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Container Apps.</a:t>
            </a:r>
          </a:p>
          <a:p>
            <a:pPr marL="139700" indent="0" fontAlgn="t">
              <a:buNone/>
            </a:pP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5. Diferencias clave entre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autoscaling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KEDA y horizontal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autoscaling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clásico</a:t>
            </a: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Escalado clásico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Basado en CPU/RAM</a:t>
            </a:r>
          </a:p>
          <a:p>
            <a:pPr marL="914400" marR="0" lvl="1" indent="-3175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Réplicas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mín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</a:t>
            </a:r>
          </a:p>
          <a:p>
            <a:pPr marL="914400" marR="0" lvl="1" indent="-3175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Reactivo</a:t>
            </a:r>
          </a:p>
          <a:p>
            <a:pPr marL="914400" marR="0" lvl="1" indent="-3175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Menos granular</a:t>
            </a:r>
          </a:p>
          <a:p>
            <a:pPr lvl="1" fontAlgn="t"/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KEDA 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Basado en eventos externos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Puede escalar hasta 0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Muy rápido y directo al evento</a:t>
            </a:r>
          </a:p>
          <a:p>
            <a:pPr lvl="1" fontAlgn="t"/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Muy granular (por cola, RU/s, latencia, etc.)</a:t>
            </a:r>
          </a:p>
          <a:p>
            <a:pPr marL="139700" indent="0" fontAlgn="t">
              <a:buNone/>
            </a:pP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39700" indent="0" fontAlgn="t">
              <a:buNone/>
            </a:pP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6. Patrones típicos que puedes mencionar</a:t>
            </a:r>
          </a:p>
          <a:p>
            <a:pPr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Event-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driven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microservices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Procesamiento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batch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bajo demanda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Ingesta variable (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IoT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logs, telemetría)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Ahorro de costes escalando a 0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fontAlgn="t"/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Separación de </a:t>
            </a:r>
            <a:r>
              <a:rPr lang="es-ES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workloads</a:t>
            </a:r>
            <a:r>
              <a:rPr lang="es-ES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pesados</a:t>
            </a:r>
            <a:endParaRPr lang="es-E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2358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0C2AC20D-22AE-5D01-47F6-08A45448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F3C37D8B-B4DD-FF4F-876A-7D425ACE2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46A3956A-D747-E6F1-064C-6B4F5DD79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133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98B3790A-195B-1A04-2E65-2FF2E2BF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6671864E-DD7D-82DD-3CE8-6B1930CC7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D498EB42-5CE0-F95C-1492-132CAA0C7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7065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FF2EA9BA-E84C-F9EA-FD93-38F373717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9E760D86-DC6D-320D-AD76-49AB6274D3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07A35A32-EA11-DE84-3DA4-DAB2E2D8E9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91981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AC4BC676-E361-4D8B-C797-68CBF339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E331D9E6-ECE3-3BC4-AA0D-3B58ED234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AD3B29F7-905E-5E3B-38C4-03EF7C567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04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12391108-E4F2-842B-8BCB-698E3F26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391192_057:notes">
            <a:extLst>
              <a:ext uri="{FF2B5EF4-FFF2-40B4-BE49-F238E27FC236}">
                <a16:creationId xmlns:a16="http://schemas.microsoft.com/office/drawing/2014/main" id="{DB471517-6FA6-26CE-8167-ADBFBB2D43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f391192_057:notes">
            <a:extLst>
              <a:ext uri="{FF2B5EF4-FFF2-40B4-BE49-F238E27FC236}">
                <a16:creationId xmlns:a16="http://schemas.microsoft.com/office/drawing/2014/main" id="{50E1A8BF-133E-3FA0-7D78-CBBE6B6DA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394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7FF834E-C1B7-AE35-F1BB-42E7BB11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92806D00-14AA-71CB-FEDE-3A87AD4C5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530AE6C6-D824-1742-96C0-DA2ECEB93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9142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40AE54DA-1766-2287-75D6-6070A2491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ed75ccf_028:notes">
            <a:extLst>
              <a:ext uri="{FF2B5EF4-FFF2-40B4-BE49-F238E27FC236}">
                <a16:creationId xmlns:a16="http://schemas.microsoft.com/office/drawing/2014/main" id="{FBA78E04-0C7E-F707-9803-DA4444A139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ed75ccf_028:notes">
            <a:extLst>
              <a:ext uri="{FF2B5EF4-FFF2-40B4-BE49-F238E27FC236}">
                <a16:creationId xmlns:a16="http://schemas.microsoft.com/office/drawing/2014/main" id="{DA124FDE-8D95-3C13-13F2-56CE38223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s-ES" dirty="0" err="1"/>
              <a:t>Dapr</a:t>
            </a:r>
            <a:r>
              <a:rPr lang="es-ES" dirty="0"/>
              <a:t>: </a:t>
            </a:r>
            <a:r>
              <a:rPr lang="es-ES" dirty="0" err="1"/>
              <a:t>Distributed</a:t>
            </a:r>
            <a:r>
              <a:rPr lang="es-ES" dirty="0"/>
              <a:t> Application Runtime</a:t>
            </a:r>
          </a:p>
          <a:p>
            <a:pPr marL="139700" indent="0">
              <a:buNone/>
            </a:pPr>
            <a:r>
              <a:rPr lang="es-ES" dirty="0"/>
              <a:t>Es un conjunto de </a:t>
            </a:r>
            <a:r>
              <a:rPr lang="es-ES" dirty="0" err="1"/>
              <a:t>APIs</a:t>
            </a:r>
            <a:r>
              <a:rPr lang="es-ES" dirty="0"/>
              <a:t> que permiten a los desarrolladores implementar aplicaciones de microservicios portables y confiables.</a:t>
            </a:r>
          </a:p>
          <a:p>
            <a:pPr marL="139700" indent="0">
              <a:buNone/>
            </a:pPr>
            <a:r>
              <a:rPr lang="es-ES" dirty="0"/>
              <a:t>Podemos trabajar con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dirty="0" err="1"/>
              <a:t>State</a:t>
            </a:r>
            <a:r>
              <a:rPr lang="es-ES" dirty="0"/>
              <a:t> Management.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dirty="0"/>
              <a:t>Secretos.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dirty="0"/>
              <a:t>Patrón pub/sub.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s-ES" dirty="0" err="1"/>
              <a:t>Etc</a:t>
            </a:r>
            <a:r>
              <a:rPr lang="es-ES" dirty="0"/>
              <a:t>…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El objetivo de </a:t>
            </a:r>
            <a:r>
              <a:rPr lang="es-ES" dirty="0" err="1"/>
              <a:t>Dapr</a:t>
            </a:r>
            <a:r>
              <a:rPr lang="es-ES" dirty="0"/>
              <a:t> es proporcionar fiabilidad, resiliencia a través de reintentos, marcha atrás, </a:t>
            </a:r>
            <a:r>
              <a:rPr lang="es-ES" dirty="0" err="1"/>
              <a:t>circuit</a:t>
            </a:r>
            <a:r>
              <a:rPr lang="es-ES" dirty="0"/>
              <a:t> breaker. Las comunicaciones están son seguras, ya que se encuentran encriptadas </a:t>
            </a:r>
            <a:r>
              <a:rPr lang="es-ES" dirty="0" err="1"/>
              <a:t>mTLS</a:t>
            </a:r>
            <a:r>
              <a:rPr lang="es-ES" dirty="0"/>
              <a:t>. Al final tenemos una aplicación realmente portable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444604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>
          <a:extLst>
            <a:ext uri="{FF2B5EF4-FFF2-40B4-BE49-F238E27FC236}">
              <a16:creationId xmlns:a16="http://schemas.microsoft.com/office/drawing/2014/main" id="{2A75227A-374F-0C6A-CDE4-BC8E5A46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ed75ccf_028:notes">
            <a:extLst>
              <a:ext uri="{FF2B5EF4-FFF2-40B4-BE49-F238E27FC236}">
                <a16:creationId xmlns:a16="http://schemas.microsoft.com/office/drawing/2014/main" id="{ED3BD061-960D-0008-033C-704E84B1CD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ed75ccf_028:notes">
            <a:extLst>
              <a:ext uri="{FF2B5EF4-FFF2-40B4-BE49-F238E27FC236}">
                <a16:creationId xmlns:a16="http://schemas.microsoft.com/office/drawing/2014/main" id="{9DC8102D-05AD-6288-DB3D-ED2D14CC2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None/>
            </a:pPr>
            <a:r>
              <a:rPr lang="es-E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Complejidad de la infraestructura y acoplamiento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building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blocks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proporcionan una abstracción sobre la infraestructura subyacente. Los equipos de desarrollo no necesitan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SDKs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específicos de cada producto cuando usan las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lo que facilita cambiar de un producto a otro y soportar múltiples productos del mismo tipo.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Por ejemplo, los desarrolladores usan la API de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Pub/Sub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 su código, y durante el desarrollo utilizan Redis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Streams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como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message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broker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ejecutándose localmente en un contenedor, mientras que el entorno de producción usa Kafka ejecutándose en la nube.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 igual manera, los equipos de plataforma pueden ofrecer varios productos de mensajería como Kafka, Pulsar o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RabbitMQ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y los equipos de desarrollo pueden usar cualquiera de ellos mediante la misma API de Pub/Sub.</a:t>
            </a:r>
          </a:p>
          <a:p>
            <a:pPr marL="13970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pPr marL="139700" indent="0" algn="l">
              <a:buNone/>
            </a:pPr>
            <a:r>
              <a:rPr lang="es-ES" b="1" i="0" dirty="0" err="1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Observabilidad</a:t>
            </a:r>
            <a:r>
              <a:rPr lang="es-E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 para resolver problemas en producción</a:t>
            </a:r>
          </a:p>
          <a:p>
            <a:pPr marL="139700" indent="0" fontAlgn="t">
              <a:buNone/>
            </a:pP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mejora la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observabilidad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en aplicaciones distribuidas porque toda la comunicación entre aplicaciones e infraestructura pasa por el proceso de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 integra de forma nativa con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OpenTelemetry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y, al generar y propagar automáticamente contextos de trazas siguiendo la especificación W3C en todas sus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elimina la necesidad de instrumentación manual, ahorrando tiempo de desarrollo.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Esto permite una recopilación más sencilla de datos de telemetría —incluyendo métricas, logs y trazas— y una resolución más rápida de incidencias, algo crítico en entornos de producción.</a:t>
            </a:r>
          </a:p>
          <a:p>
            <a:pPr marL="13970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pPr marL="139700" indent="0" algn="l">
              <a:buNone/>
            </a:pPr>
            <a:r>
              <a:rPr lang="es-E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Gestión de seguridad y cumplimiento</a:t>
            </a: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incorpora varias funcionalidades para gestionar comunicación segura, control de acceso y autenticación.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Utiliza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mTLS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mutual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Transport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Layer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Security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para cifrar la comunicación entre servicios, garantizando integridad y confidencialidad de los datos.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 equipos de plataforma pueden definir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Access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Policies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para controlar el acceso a servicios, recursos de infraestructura (componentes) y secretos, facilitando la gobernanza.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Además,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soporta componentes de 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middleware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como OAuth 2.0, capaces de gestionar autenticación y autorización para </a:t>
            </a: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APIs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web.</a:t>
            </a:r>
          </a:p>
          <a:p>
            <a:pPr marL="139700" indent="0"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pPr marL="13970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Alta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fiabilidad</a:t>
            </a:r>
            <a:r>
              <a:rPr lang="en-US" b="1" i="0" dirty="0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 y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noto sans" panose="020B0502040504020204" pitchFamily="34" charset="0"/>
              </a:rPr>
              <a:t>resiliencia</a:t>
            </a:r>
            <a:endParaRPr lang="en-US" b="1" i="0" dirty="0">
              <a:solidFill>
                <a:srgbClr val="000000"/>
              </a:solidFill>
              <a:effectLst/>
              <a:latin typeface="noto sans" panose="020B0502040504020204" pitchFamily="34" charset="0"/>
            </a:endParaRPr>
          </a:p>
          <a:p>
            <a:pPr marL="139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Dapr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mejora la resiliencia de las aplicaciones al proporcionar a los ingenieros de plataforma políticas configurables de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retries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circuit</a:t>
            </a:r>
            <a:r>
              <a:rPr lang="es-E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breakers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E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timeouts</a:t>
            </a: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r>
              <a:rPr lang="es-E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Estas políticas se pueden aplicar a aplicaciones concretas o a recursos de infraestructura (componentes), permitiendo un control granular y una mayor disponibilidad de las aplicaciones.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3898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ACCA03F2-5AF6-FD01-C5CE-A443F30A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391192_017:notes">
            <a:extLst>
              <a:ext uri="{FF2B5EF4-FFF2-40B4-BE49-F238E27FC236}">
                <a16:creationId xmlns:a16="http://schemas.microsoft.com/office/drawing/2014/main" id="{EFEF4467-3281-FA9A-EDFC-9DE2FE4CF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f391192_017:notes">
            <a:extLst>
              <a:ext uri="{FF2B5EF4-FFF2-40B4-BE49-F238E27FC236}">
                <a16:creationId xmlns:a16="http://schemas.microsoft.com/office/drawing/2014/main" id="{9FDA2CF8-3C00-55A0-2D39-991C5AC06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43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8" y="-13"/>
            <a:ext cx="7710766" cy="5142022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658575"/>
            <a:ext cx="3620100" cy="382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E03E8CB-865C-F078-12C7-FBA6C05CB6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5D5BA27-978A-1213-E604-6AC1117516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2509" y="1499944"/>
            <a:ext cx="2121381" cy="2143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8" y="-15"/>
            <a:ext cx="8946259" cy="5142022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0D9A1AC-8BB2-D6EE-DDCC-0130845F4E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1E343B1-64B4-47FA-D092-5ED384591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43CE59-C59E-8737-1BC1-1D1308094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51795" y="215633"/>
            <a:ext cx="975093" cy="9853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15" y="1"/>
            <a:ext cx="9144000" cy="5143352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4057083-DE0E-5801-D5DF-300B89E797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8C0D3C7-F911-9913-0C9A-A1E1C52543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5" y="-10"/>
            <a:ext cx="9145330" cy="5142763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26661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3400204" y="1592600"/>
            <a:ext cx="26661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05FAE25-B5C3-72B3-773B-0CF8F342C1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55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2249172" y="358"/>
            <a:ext cx="6879655" cy="5143142"/>
          </a:xfrm>
          <a:prstGeom prst="rect">
            <a:avLst/>
          </a:prstGeom>
        </p:spPr>
      </p:pic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08060" y="2908191"/>
            <a:ext cx="6884252" cy="637995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2353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394614" y="1554957"/>
            <a:ext cx="6884253" cy="1353233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5294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4412">
                <a:solidFill>
                  <a:schemeClr val="bg1"/>
                </a:solidFill>
              </a:rPr>
              <a:t>Demo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3223EC-F96A-4AE0-91E8-4EE2E9F1CA54}"/>
              </a:ext>
            </a:extLst>
          </p:cNvPr>
          <p:cNvGrpSpPr/>
          <p:nvPr userDrawn="1"/>
        </p:nvGrpSpPr>
        <p:grpSpPr>
          <a:xfrm>
            <a:off x="0" y="4594829"/>
            <a:ext cx="9144000" cy="554508"/>
            <a:chOff x="-1" y="6248400"/>
            <a:chExt cx="12436475" cy="754062"/>
          </a:xfrm>
        </p:grpSpPr>
        <p:sp>
          <p:nvSpPr>
            <p:cNvPr id="4" name="Rectangle 3"/>
            <p:cNvSpPr/>
            <p:nvPr userDrawn="1"/>
          </p:nvSpPr>
          <p:spPr bwMode="auto">
            <a:xfrm>
              <a:off x="-1" y="6248400"/>
              <a:ext cx="12436475" cy="75406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016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685647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765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</a:t>
              </a:r>
              <a:r>
                <a:rPr lang="en-US" sz="1765" err="1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GlobalAzure</a:t>
              </a:r>
              <a:endParaRPr lang="en-US" sz="1765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9D67FB8-65E2-45DD-B1AA-59F22B661C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/>
          </p:blipFill>
          <p:spPr bwMode="auto">
            <a:xfrm>
              <a:off x="556178" y="6324592"/>
              <a:ext cx="759373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A42C45B5-4C00-6F8F-7202-1B5AF170940B}"/>
              </a:ext>
            </a:extLst>
          </p:cNvPr>
          <p:cNvSpPr txBox="1"/>
          <p:nvPr userDrawn="1"/>
        </p:nvSpPr>
        <p:spPr>
          <a:xfrm>
            <a:off x="7374597" y="435460"/>
            <a:ext cx="1388848" cy="380108"/>
          </a:xfrm>
          <a:prstGeom prst="rect">
            <a:avLst/>
          </a:prstGeom>
          <a:solidFill>
            <a:srgbClr val="E3C038"/>
          </a:solidFill>
        </p:spPr>
        <p:txBody>
          <a:bodyPr wrap="none" lIns="134464" tIns="107571" rIns="134464" bIns="107571" rtlCol="0">
            <a:spAutoFit/>
          </a:bodyPr>
          <a:lstStyle/>
          <a:p>
            <a:pPr>
              <a:lnSpc>
                <a:spcPct val="90000"/>
              </a:lnSpc>
              <a:spcAft>
                <a:spcPts val="441"/>
              </a:spcAft>
            </a:pPr>
            <a:r>
              <a:rPr lang="es-ES" sz="1176">
                <a:solidFill>
                  <a:srgbClr val="001344"/>
                </a:solidFill>
                <a:latin typeface="+mn-lt"/>
              </a:rPr>
              <a:t>#AzureTour2025</a:t>
            </a:r>
          </a:p>
        </p:txBody>
      </p:sp>
    </p:spTree>
    <p:extLst>
      <p:ext uri="{BB962C8B-B14F-4D97-AF65-F5344CB8AC3E}">
        <p14:creationId xmlns:p14="http://schemas.microsoft.com/office/powerpoint/2010/main" val="3341657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7" r:id="rId4"/>
    <p:sldLayoutId id="2147483658" r:id="rId5"/>
    <p:sldLayoutId id="2147483661" r:id="rId6"/>
    <p:sldLayoutId id="2147483662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hyperlink" Target="mailto:adiaz@encamina.com" TargetMode="External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keda.sh/docs/2.18/scaler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spir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>
            <a:spLocks noGrp="1"/>
          </p:cNvSpPr>
          <p:nvPr>
            <p:ph type="ctrTitle"/>
          </p:nvPr>
        </p:nvSpPr>
        <p:spPr>
          <a:xfrm>
            <a:off x="299721" y="0"/>
            <a:ext cx="3891279" cy="3109141"/>
          </a:xfrm>
          <a:prstGeom prst="rect">
            <a:avLst/>
          </a:prstGeom>
          <a:ln w="571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70C0"/>
                </a:solidFill>
                <a:latin typeface="Jumble" panose="020F0502020204030204" pitchFamily="2" charset="0"/>
              </a:rPr>
              <a:t>TENERIFE</a:t>
            </a:r>
            <a:r>
              <a:rPr lang="en" dirty="0">
                <a:solidFill>
                  <a:srgbClr val="006A6B"/>
                </a:solidFill>
              </a:rPr>
              <a:t> </a:t>
            </a:r>
            <a:r>
              <a:rPr lang="en" dirty="0">
                <a:solidFill>
                  <a:srgbClr val="0070C0"/>
                </a:solidFill>
                <a:latin typeface="Jumble" panose="02000503000000020004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WINTER</a:t>
            </a:r>
            <a:br>
              <a:rPr lang="en" dirty="0">
                <a:solidFill>
                  <a:srgbClr val="006A6B"/>
                </a:solidFill>
              </a:rPr>
            </a:br>
            <a:r>
              <a:rPr lang="en" dirty="0"/>
              <a:t> </a:t>
            </a:r>
            <a:br>
              <a:rPr lang="en" sz="3200" dirty="0">
                <a:solidFill>
                  <a:srgbClr val="00B2C2"/>
                </a:solidFill>
              </a:rPr>
            </a:br>
            <a:endParaRPr dirty="0"/>
          </a:p>
        </p:txBody>
      </p:sp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D68F4D9A-A54A-274F-5EDF-0309FA14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554" y="4067022"/>
            <a:ext cx="963883" cy="972338"/>
          </a:xfrm>
          <a:prstGeom prst="rect">
            <a:avLst/>
          </a:prstGeom>
        </p:spPr>
      </p:pic>
      <p:pic>
        <p:nvPicPr>
          <p:cNvPr id="7" name="Imagen 6" descr="Imagen que contiene tatuaje, vistiendo, viendo, café&#10;&#10;El contenido generado por IA puede ser incorrecto.">
            <a:extLst>
              <a:ext uri="{FF2B5EF4-FFF2-40B4-BE49-F238E27FC236}">
                <a16:creationId xmlns:a16="http://schemas.microsoft.com/office/drawing/2014/main" id="{47E04EB4-44FD-F5AA-1977-981149EF1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63" y="1483360"/>
            <a:ext cx="2844061" cy="366014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2D9052B-C692-2D65-C4A1-6C0ABDDEB79A}"/>
              </a:ext>
            </a:extLst>
          </p:cNvPr>
          <p:cNvSpPr txBox="1"/>
          <p:nvPr/>
        </p:nvSpPr>
        <p:spPr>
          <a:xfrm>
            <a:off x="2879536" y="1722120"/>
            <a:ext cx="861774" cy="2676374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en-US" sz="4400" dirty="0">
                <a:latin typeface="Jumble" panose="02000503000000020004" pitchFamily="2" charset="0"/>
              </a:rPr>
              <a:t>SESSIONS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1F2164-F0EA-4FE1-FA07-C28E41C76CA8}"/>
              </a:ext>
            </a:extLst>
          </p:cNvPr>
          <p:cNvSpPr txBox="1"/>
          <p:nvPr/>
        </p:nvSpPr>
        <p:spPr>
          <a:xfrm>
            <a:off x="3873500" y="2295330"/>
            <a:ext cx="810260" cy="1077218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D8B25C"/>
                </a:solidFill>
                <a:latin typeface="Jumble" panose="02000503000000020004" pitchFamily="2" charset="0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215" name="Google Shape;215;p21"/>
          <p:cNvGrpSpPr/>
          <p:nvPr/>
        </p:nvGrpSpPr>
        <p:grpSpPr>
          <a:xfrm>
            <a:off x="7843600" y="2775995"/>
            <a:ext cx="1063404" cy="1257267"/>
            <a:chOff x="7843600" y="2775995"/>
            <a:chExt cx="1063404" cy="1257267"/>
          </a:xfrm>
        </p:grpSpPr>
        <p:sp>
          <p:nvSpPr>
            <p:cNvPr id="216" name="Google Shape;216;p21"/>
            <p:cNvSpPr/>
            <p:nvPr/>
          </p:nvSpPr>
          <p:spPr>
            <a:xfrm>
              <a:off x="8317077" y="3538745"/>
              <a:ext cx="116450" cy="494517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7843600" y="3242988"/>
              <a:ext cx="985792" cy="257051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#Thanks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8317077" y="2775995"/>
              <a:ext cx="116450" cy="132595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7921212" y="2947296"/>
              <a:ext cx="985792" cy="256985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Sponsors</a:t>
              </a:r>
              <a:endParaRPr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F694BA27-8969-2E17-8D1B-9B6BE409F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8255"/>
            <a:ext cx="6172200" cy="405700"/>
          </a:xfrm>
        </p:spPr>
        <p:txBody>
          <a:bodyPr/>
          <a:lstStyle/>
          <a:p>
            <a:r>
              <a:rPr lang="es-ES" dirty="0">
                <a:latin typeface="Jumble" panose="02000503000000020004" pitchFamily="2" charset="0"/>
              </a:rPr>
              <a:t>NUESTROS PATROCINADORES</a:t>
            </a:r>
            <a:endParaRPr lang="en-US" dirty="0">
              <a:latin typeface="Jumble" panose="02000503000000020004" pitchFamily="2" charset="0"/>
            </a:endParaRPr>
          </a:p>
        </p:txBody>
      </p:sp>
      <p:pic>
        <p:nvPicPr>
          <p:cNvPr id="21" name="Imagen 2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742E2D7F-E5E2-7D77-8D90-D77799F86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65" y="234303"/>
            <a:ext cx="985792" cy="996122"/>
          </a:xfrm>
          <a:prstGeom prst="rect">
            <a:avLst/>
          </a:prstGeom>
        </p:spPr>
      </p:pic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5066DF0-0E6B-7C12-ADFC-863E456B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196" y="1501851"/>
            <a:ext cx="2224253" cy="74350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9E318B3-195A-4637-BF8B-20415B940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133" y="2216540"/>
            <a:ext cx="2955867" cy="1461512"/>
          </a:xfrm>
          <a:prstGeom prst="rect">
            <a:avLst/>
          </a:prstGeom>
        </p:spPr>
      </p:pic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BD192B6-737F-6DE4-D7BC-5FCD4BAF7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105" y="2541766"/>
            <a:ext cx="2982992" cy="298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25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person&#10;&#10;Description automatically generated">
            <a:extLst>
              <a:ext uri="{FF2B5EF4-FFF2-40B4-BE49-F238E27FC236}">
                <a16:creationId xmlns:a16="http://schemas.microsoft.com/office/drawing/2014/main" id="{0AFD4801-2B82-FE22-8B81-B024D872F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20" y="521785"/>
            <a:ext cx="7414161" cy="40999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B8B3BE4-F987-A86E-9D84-06AC7F3F41F3}"/>
              </a:ext>
            </a:extLst>
          </p:cNvPr>
          <p:cNvGrpSpPr/>
          <p:nvPr/>
        </p:nvGrpSpPr>
        <p:grpSpPr>
          <a:xfrm>
            <a:off x="4945301" y="860094"/>
            <a:ext cx="3432859" cy="2336708"/>
            <a:chOff x="5888266" y="1095884"/>
            <a:chExt cx="4577795" cy="3116051"/>
          </a:xfrm>
        </p:grpSpPr>
        <p:sp>
          <p:nvSpPr>
            <p:cNvPr id="21" name="Subtitle 1">
              <a:extLst>
                <a:ext uri="{FF2B5EF4-FFF2-40B4-BE49-F238E27FC236}">
                  <a16:creationId xmlns:a16="http://schemas.microsoft.com/office/drawing/2014/main" id="{01FD8B7E-B200-48B1-8540-BE5FA647CCF3}"/>
                </a:ext>
              </a:extLst>
            </p:cNvPr>
            <p:cNvSpPr txBox="1">
              <a:spLocks/>
            </p:cNvSpPr>
            <p:nvPr/>
          </p:nvSpPr>
          <p:spPr>
            <a:xfrm>
              <a:off x="5888266" y="1973619"/>
              <a:ext cx="3683782" cy="672447"/>
            </a:xfrm>
            <a:prstGeom prst="rect">
              <a:avLst/>
            </a:prstGeom>
          </p:spPr>
          <p:txBody>
            <a:bodyPr vert="horz" lIns="69055" tIns="34528" rIns="69055" bIns="34528" rtlCol="0">
              <a:no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61451">
                <a:buNone/>
                <a:defRPr/>
              </a:pPr>
              <a:r>
                <a:rPr lang="en-US" sz="2100" b="1" spc="-76" dirty="0">
                  <a:latin typeface="Segoe UI Light" pitchFamily="34" charset="0"/>
                </a:rPr>
                <a:t>Sergio Parra Guerra</a:t>
              </a:r>
            </a:p>
          </p:txBody>
        </p:sp>
        <p:sp>
          <p:nvSpPr>
            <p:cNvPr id="22" name="Text Placeholder 4">
              <a:extLst>
                <a:ext uri="{FF2B5EF4-FFF2-40B4-BE49-F238E27FC236}">
                  <a16:creationId xmlns:a16="http://schemas.microsoft.com/office/drawing/2014/main" id="{4A371086-E804-470C-8D47-FDFC7A6DA0B5}"/>
                </a:ext>
              </a:extLst>
            </p:cNvPr>
            <p:cNvSpPr txBox="1">
              <a:spLocks/>
            </p:cNvSpPr>
            <p:nvPr/>
          </p:nvSpPr>
          <p:spPr>
            <a:xfrm>
              <a:off x="5888266" y="2716426"/>
              <a:ext cx="4482761" cy="1495509"/>
            </a:xfrm>
            <a:prstGeom prst="rect">
              <a:avLst/>
            </a:prstGeom>
          </p:spPr>
          <p:txBody>
            <a:bodyPr vert="horz" lIns="69055" tIns="34528" rIns="69055" bIns="34528" rtlCol="0">
              <a:norm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61451">
                <a:buNone/>
                <a:defRPr/>
              </a:pPr>
              <a:r>
                <a:rPr lang="en-US" sz="1942" spc="-76" dirty="0">
                  <a:solidFill>
                    <a:schemeClr val="bg1"/>
                  </a:solidFill>
                  <a:latin typeface="Segoe UI Light" pitchFamily="34" charset="0"/>
                </a:rPr>
                <a:t>ENCAMINA</a:t>
              </a:r>
            </a:p>
            <a:p>
              <a:pPr marL="0" lvl="1" indent="0" defTabSz="761451">
                <a:spcBef>
                  <a:spcPts val="765"/>
                </a:spcBef>
                <a:buNone/>
                <a:defRPr/>
              </a:pPr>
              <a:r>
                <a:rPr lang="en-US" sz="1247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@sparraguerra</a:t>
              </a:r>
              <a:endParaRPr lang="en-US" sz="832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marL="259760" lvl="1" indent="0" defTabSz="761451">
                <a:buNone/>
                <a:defRPr/>
              </a:pPr>
              <a:endParaRPr lang="en-US" sz="832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285544" indent="-285544" defTabSz="761451">
                <a:defRPr/>
              </a:pPr>
              <a:endParaRPr lang="en-US" sz="1942" dirty="0">
                <a:solidFill>
                  <a:schemeClr val="bg1"/>
                </a:solidFill>
              </a:endParaRPr>
            </a:p>
            <a:p>
              <a:pPr marL="285544" indent="-285544" defTabSz="761451">
                <a:defRPr/>
              </a:pPr>
              <a:endParaRPr lang="en-US" sz="1110" dirty="0">
                <a:solidFill>
                  <a:schemeClr val="bg1"/>
                </a:solidFill>
              </a:endParaRPr>
            </a:p>
          </p:txBody>
        </p:sp>
        <p:pic>
          <p:nvPicPr>
            <p:cNvPr id="26" name="Marcador de posición de imagen 7">
              <a:extLst>
                <a:ext uri="{FF2B5EF4-FFF2-40B4-BE49-F238E27FC236}">
                  <a16:creationId xmlns:a16="http://schemas.microsoft.com/office/drawing/2014/main" id="{F95BD1BC-659B-4853-B5DD-E84375DD8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450511">
              <a:off x="9135847" y="1095884"/>
              <a:ext cx="1330214" cy="1330213"/>
            </a:xfrm>
            <a:prstGeom prst="ellipse">
              <a:avLst/>
            </a:prstGeom>
            <a:solidFill>
              <a:srgbClr val="FFFFFF">
                <a:shade val="85000"/>
              </a:srgbClr>
            </a:solidFill>
            <a:ln w="762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E667B5E-3D87-61B3-3AD4-4456B64C2A57}"/>
              </a:ext>
            </a:extLst>
          </p:cNvPr>
          <p:cNvGrpSpPr/>
          <p:nvPr/>
        </p:nvGrpSpPr>
        <p:grpSpPr>
          <a:xfrm>
            <a:off x="176791" y="829838"/>
            <a:ext cx="4194852" cy="2079232"/>
            <a:chOff x="624308" y="1109161"/>
            <a:chExt cx="5593929" cy="2772702"/>
          </a:xfrm>
        </p:grpSpPr>
        <p:sp>
          <p:nvSpPr>
            <p:cNvPr id="19" name="Subtitle 1">
              <a:extLst>
                <a:ext uri="{FF2B5EF4-FFF2-40B4-BE49-F238E27FC236}">
                  <a16:creationId xmlns:a16="http://schemas.microsoft.com/office/drawing/2014/main" id="{F87642CD-9731-4982-87EA-FEBBABEEBB13}"/>
                </a:ext>
              </a:extLst>
            </p:cNvPr>
            <p:cNvSpPr txBox="1">
              <a:spLocks/>
            </p:cNvSpPr>
            <p:nvPr/>
          </p:nvSpPr>
          <p:spPr>
            <a:xfrm>
              <a:off x="625694" y="1928306"/>
              <a:ext cx="4585267" cy="601740"/>
            </a:xfrm>
            <a:prstGeom prst="rect">
              <a:avLst/>
            </a:prstGeom>
          </p:spPr>
          <p:txBody>
            <a:bodyPr vert="horz" wrap="square" lIns="126837" tIns="126837" rIns="0" bIns="0" rtlCol="0" anchor="t" anchorCtr="0">
              <a:spAutoFit/>
            </a:bodyPr>
            <a:lstStyle>
              <a:lvl1pPr marL="633579" indent="-630079" algn="l" defTabSz="99554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lang="en-US" sz="3528" b="1" kern="1200" spc="-110" baseline="0" dirty="0" smtClean="0">
                  <a:solidFill>
                    <a:schemeClr val="tx1">
                      <a:alpha val="99000"/>
                    </a:schemeClr>
                  </a:solidFill>
                  <a:latin typeface="Segoe UI Light" pitchFamily="34" charset="0"/>
                  <a:ea typeface="Segoe UI" pitchFamily="34" charset="0"/>
                  <a:cs typeface="Segoe UI" pitchFamily="34" charset="0"/>
                </a:defRPr>
              </a:lvl1pPr>
              <a:lvl2pPr marL="381548" indent="-378047" algn="l" defTabSz="99554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lang="en-US" sz="1600" kern="1200" spc="-55" baseline="0" dirty="0" smtClean="0">
                  <a:solidFill>
                    <a:schemeClr val="tx1">
                      <a:alpha val="99000"/>
                    </a:schemeClr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84597" indent="-481920" defTabSz="761451">
                <a:defRPr/>
              </a:pPr>
              <a:r>
                <a:rPr lang="es-ES" sz="2100" spc="-84" dirty="0"/>
                <a:t>Santiago Porras Rodríguez</a:t>
              </a:r>
            </a:p>
          </p:txBody>
        </p:sp>
        <p:sp>
          <p:nvSpPr>
            <p:cNvPr id="20" name="Text Placeholder 4">
              <a:extLst>
                <a:ext uri="{FF2B5EF4-FFF2-40B4-BE49-F238E27FC236}">
                  <a16:creationId xmlns:a16="http://schemas.microsoft.com/office/drawing/2014/main" id="{7B56ACA2-2D47-42DD-89B2-0F31778549EE}"/>
                </a:ext>
              </a:extLst>
            </p:cNvPr>
            <p:cNvSpPr txBox="1">
              <a:spLocks/>
            </p:cNvSpPr>
            <p:nvPr/>
          </p:nvSpPr>
          <p:spPr>
            <a:xfrm>
              <a:off x="624308" y="2617540"/>
              <a:ext cx="5593929" cy="1264323"/>
            </a:xfrm>
            <a:prstGeom prst="rect">
              <a:avLst/>
            </a:prstGeom>
          </p:spPr>
          <p:txBody>
            <a:bodyPr vert="horz" wrap="square" lIns="126837" tIns="126837" rIns="0" bIns="0" rtlCol="0" anchor="t" anchorCtr="0">
              <a:sp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lang="en-US" sz="3528" b="0" kern="1200" spc="-110" baseline="0" dirty="0">
                  <a:solidFill>
                    <a:schemeClr val="tx1">
                      <a:alpha val="99000"/>
                    </a:schemeClr>
                  </a:solidFill>
                  <a:latin typeface="Segoe UI Light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61451">
                <a:buNone/>
                <a:defRPr/>
              </a:pPr>
              <a:r>
                <a:rPr lang="en-US" sz="1942" spc="-84" dirty="0">
                  <a:solidFill>
                    <a:schemeClr val="bg1"/>
                  </a:solidFill>
                </a:rPr>
                <a:t>ENCAMINA</a:t>
              </a:r>
            </a:p>
            <a:p>
              <a:pPr marL="0" lvl="1" indent="0" defTabSz="761451">
                <a:spcBef>
                  <a:spcPts val="765"/>
                </a:spcBef>
                <a:buNone/>
                <a:defRPr/>
              </a:pPr>
              <a:r>
                <a:rPr lang="en-US" sz="1246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@saintwukong</a:t>
              </a:r>
              <a:r>
                <a:rPr lang="en-US" sz="1388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	</a:t>
              </a:r>
            </a:p>
            <a:p>
              <a:pPr marL="259760" lvl="1" indent="0" defTabSz="761451">
                <a:buNone/>
                <a:defRPr/>
              </a:pPr>
              <a:endParaRPr lang="en-US" sz="111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EAD40890-D677-43C4-87D4-6C9388E360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rot="413800">
              <a:off x="4543154" y="1109161"/>
              <a:ext cx="1328873" cy="1328872"/>
            </a:xfrm>
            <a:prstGeom prst="ellipse">
              <a:avLst/>
            </a:prstGeom>
            <a:solidFill>
              <a:srgbClr val="FFFFFF">
                <a:shade val="85000"/>
              </a:srgbClr>
            </a:solidFill>
            <a:ln w="762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pic>
        <p:nvPicPr>
          <p:cNvPr id="25" name="Picture 16">
            <a:extLst>
              <a:ext uri="{FF2B5EF4-FFF2-40B4-BE49-F238E27FC236}">
                <a16:creationId xmlns:a16="http://schemas.microsoft.com/office/drawing/2014/main" id="{56E35146-2678-4C9B-BBE8-3123D0FFFA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196" y="3684480"/>
            <a:ext cx="1624121" cy="803038"/>
          </a:xfrm>
          <a:prstGeom prst="rect">
            <a:avLst/>
          </a:prstGeom>
        </p:spPr>
      </p:pic>
      <p:pic>
        <p:nvPicPr>
          <p:cNvPr id="30" name="Imagen 2">
            <a:extLst>
              <a:ext uri="{FF2B5EF4-FFF2-40B4-BE49-F238E27FC236}">
                <a16:creationId xmlns:a16="http://schemas.microsoft.com/office/drawing/2014/main" id="{E356E785-34ED-4906-A061-59DAD8CD7F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5442" y="3684480"/>
            <a:ext cx="1685708" cy="680120"/>
          </a:xfrm>
          <a:prstGeom prst="rect">
            <a:avLst/>
          </a:prstGeom>
        </p:spPr>
      </p:pic>
      <p:pic>
        <p:nvPicPr>
          <p:cNvPr id="8" name="Picture 7" descr="A person wearing a garment&#10;&#10;Description automatically generated with medium confidence">
            <a:extLst>
              <a:ext uri="{FF2B5EF4-FFF2-40B4-BE49-F238E27FC236}">
                <a16:creationId xmlns:a16="http://schemas.microsoft.com/office/drawing/2014/main" id="{0713FE7A-2991-803D-E7C3-4E1F22438F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95" y="294707"/>
            <a:ext cx="1824584" cy="348937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7EC6E6-FE32-DCB5-D29E-F019467CCA33}"/>
              </a:ext>
            </a:extLst>
          </p:cNvPr>
          <p:cNvGrpSpPr/>
          <p:nvPr/>
        </p:nvGrpSpPr>
        <p:grpSpPr>
          <a:xfrm>
            <a:off x="3254629" y="1671781"/>
            <a:ext cx="5334890" cy="1318991"/>
            <a:chOff x="6632214" y="1973619"/>
            <a:chExt cx="6032375" cy="3226236"/>
          </a:xfrm>
        </p:grpSpPr>
        <p:sp>
          <p:nvSpPr>
            <p:cNvPr id="11" name="Text Placeholder 4">
              <a:extLst>
                <a:ext uri="{FF2B5EF4-FFF2-40B4-BE49-F238E27FC236}">
                  <a16:creationId xmlns:a16="http://schemas.microsoft.com/office/drawing/2014/main" id="{07B269D5-0111-F7F0-B2E1-3A644DE02CFF}"/>
                </a:ext>
              </a:extLst>
            </p:cNvPr>
            <p:cNvSpPr txBox="1">
              <a:spLocks/>
            </p:cNvSpPr>
            <p:nvPr/>
          </p:nvSpPr>
          <p:spPr>
            <a:xfrm>
              <a:off x="6632214" y="3704345"/>
              <a:ext cx="6032375" cy="1495510"/>
            </a:xfrm>
            <a:prstGeom prst="rect">
              <a:avLst/>
            </a:prstGeom>
          </p:spPr>
          <p:txBody>
            <a:bodyPr vert="horz" lIns="69055" tIns="34528" rIns="69055" bIns="34528" rtlCol="0">
              <a:norm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61451">
                <a:buNone/>
                <a:defRPr/>
              </a:pPr>
              <a:r>
                <a:rPr lang="en-US" sz="2700" b="1" spc="-76" dirty="0">
                  <a:latin typeface="Segoe UI Light" pitchFamily="34" charset="0"/>
                </a:rPr>
                <a:t>ENCAMINA</a:t>
              </a:r>
              <a:endParaRPr lang="en-US" sz="1200" b="1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0" name="Subtitle 1">
              <a:extLst>
                <a:ext uri="{FF2B5EF4-FFF2-40B4-BE49-F238E27FC236}">
                  <a16:creationId xmlns:a16="http://schemas.microsoft.com/office/drawing/2014/main" id="{1B5A13FD-0865-2618-B5DC-8C71B3EA1CB3}"/>
                </a:ext>
              </a:extLst>
            </p:cNvPr>
            <p:cNvSpPr txBox="1">
              <a:spLocks/>
            </p:cNvSpPr>
            <p:nvPr/>
          </p:nvSpPr>
          <p:spPr>
            <a:xfrm>
              <a:off x="6632214" y="1973619"/>
              <a:ext cx="5728947" cy="672447"/>
            </a:xfrm>
            <a:prstGeom prst="rect">
              <a:avLst/>
            </a:prstGeom>
          </p:spPr>
          <p:txBody>
            <a:bodyPr vert="horz" lIns="69055" tIns="34528" rIns="69055" bIns="34528" rtlCol="0">
              <a:no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761451">
                <a:buNone/>
                <a:defRPr/>
              </a:pPr>
              <a:r>
                <a:rPr lang="es-ES" sz="4499" b="1" spc="-76" dirty="0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S</a:t>
              </a:r>
              <a:r>
                <a:rPr lang="en-US" sz="4499" b="1" spc="-76" dirty="0" err="1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antiago</a:t>
              </a:r>
              <a:r>
                <a:rPr lang="en-US" sz="4499" b="1" spc="-76" dirty="0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 Parra</a:t>
              </a:r>
            </a:p>
          </p:txBody>
        </p:sp>
      </p:grpSp>
      <p:sp>
        <p:nvSpPr>
          <p:cNvPr id="2" name="Google Shape;161;p16">
            <a:extLst>
              <a:ext uri="{FF2B5EF4-FFF2-40B4-BE49-F238E27FC236}">
                <a16:creationId xmlns:a16="http://schemas.microsoft.com/office/drawing/2014/main" id="{8FA87CE8-6BA7-DFF9-3D71-D522DEF9753F}"/>
              </a:ext>
            </a:extLst>
          </p:cNvPr>
          <p:cNvSpPr txBox="1">
            <a:spLocks/>
          </p:cNvSpPr>
          <p:nvPr/>
        </p:nvSpPr>
        <p:spPr>
          <a:xfrm>
            <a:off x="953862" y="-43033"/>
            <a:ext cx="4601533" cy="902559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6000" dirty="0" err="1">
                <a:solidFill>
                  <a:schemeClr val="accent5"/>
                </a:solidFill>
              </a:rPr>
              <a:t>Hello</a:t>
            </a:r>
            <a:r>
              <a:rPr lang="es-ES" sz="6000" dirty="0">
                <a:solidFill>
                  <a:schemeClr val="accent5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0002771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116 L 5E-6 -0.00093 C -0.01237 0.00046 -0.02473 0.00069 -0.03697 0.0037 C -0.05925 0.00926 -0.06484 0.01736 -0.08567 0.02662 C -0.09322 0.02986 -0.10118 0.03078 -0.1086 0.03449 C -0.11615 0.03819 -0.12318 0.04421 -0.13047 0.04838 C -0.14454 0.05671 -0.15743 0.06041 -0.1724 0.06435 C -0.18698 0.06828 -0.17982 0.06713 -0.19375 0.06828 C -0.19688 0.06944 -0.2 0.0706 -0.20326 0.07129 C -0.20756 0.07222 -0.21185 0.07222 -0.21615 0.07338 C -0.23998 0.08032 -0.20599 0.07546 -0.23347 0.07824 L -0.24128 0.08241 C -0.24271 0.0831 -0.24428 0.08403 -0.24571 0.08426 C -0.24961 0.08495 -0.25365 0.08495 -0.25756 0.08541 C -0.26211 0.08796 -0.25964 0.08727 -0.26472 0.08727 " pathEditMode="relative" rAng="0" ptsTypes="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42" y="442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8 -0.00208 L -0.00118 -0.00185 C 0.01653 0.00718 -0.00287 -0.00231 0.03958 0.00672 C 0.0496 0.0088 0.0595 0.01135 0.06927 0.01459 C 0.0802 0.01829 0.09088 0.02338 0.10182 0.02755 C 0.10664 0.0294 0.11145 0.03079 0.11627 0.03264 C 0.11966 0.0338 0.12304 0.03519 0.12643 0.03658 C 0.12786 0.03727 0.12942 0.03797 0.13085 0.03866 C 0.13333 0.03935 0.13567 0.03982 0.13815 0.04051 C 0.14036 0.0419 0.14257 0.04375 0.14492 0.04445 C 0.15833 0.04954 0.14687 0.04306 0.15442 0.04653 C 0.16002 0.04908 0.16549 0.05232 0.17122 0.0544 C 0.18125 0.05834 0.17643 0.05672 0.1858 0.05949 L 0.19023 0.0625 C 0.19127 0.0632 0.19257 0.06343 0.19362 0.06435 C 0.19466 0.06551 0.19531 0.06736 0.19635 0.06829 C 0.19739 0.06945 0.19869 0.06968 0.19973 0.07037 C 0.20234 0.07199 0.20403 0.07385 0.20703 0.07431 C 0.21302 0.07523 0.21901 0.075 0.225 0.07523 C 0.22591 0.07639 0.22669 0.07755 0.22773 0.07824 C 0.22838 0.07894 0.22929 0.07894 0.22994 0.0794 C 0.23059 0.07963 0.23112 0.0801 0.23164 0.08033 C 0.23593 0.08172 0.23684 0.08125 0.24179 0.08125 " pathEditMode="relative" rAng="0" ptsTypes="AAAAAAAAAAAAAAAAAAAAA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48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000"/>
                            </p:stCondLst>
                            <p:childTnLst>
                              <p:par>
                                <p:cTn id="7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15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500"/>
                            </p:stCondLst>
                            <p:childTnLst>
                              <p:par>
                                <p:cTn id="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25 -1.11111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5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9B8EBFE7-0BA7-1C7B-5E18-08A12DB1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541E8EB8-27B5-13A0-BE54-9605EF120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554" y="4067022"/>
            <a:ext cx="963883" cy="972338"/>
          </a:xfrm>
          <a:prstGeom prst="rect">
            <a:avLst/>
          </a:prstGeom>
        </p:spPr>
      </p:pic>
      <p:sp>
        <p:nvSpPr>
          <p:cNvPr id="5" name="Google Shape;147;p14">
            <a:extLst>
              <a:ext uri="{FF2B5EF4-FFF2-40B4-BE49-F238E27FC236}">
                <a16:creationId xmlns:a16="http://schemas.microsoft.com/office/drawing/2014/main" id="{9EA4E7BB-31C1-AD65-968D-60B6C61100D0}"/>
              </a:ext>
            </a:extLst>
          </p:cNvPr>
          <p:cNvSpPr txBox="1">
            <a:spLocks noGrp="1"/>
          </p:cNvSpPr>
          <p:nvPr/>
        </p:nvSpPr>
        <p:spPr>
          <a:xfrm>
            <a:off x="158914" y="579664"/>
            <a:ext cx="4224025" cy="3341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Kulim Park"/>
              <a:buNone/>
              <a:defRPr sz="4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solidFill>
                  <a:srgbClr val="006A6B"/>
                </a:solidFill>
              </a:rPr>
            </a:br>
            <a:r>
              <a:rPr lang="en" dirty="0"/>
              <a:t> </a:t>
            </a:r>
            <a:r>
              <a:rPr lang="es-ES" sz="1800" dirty="0" err="1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From</a:t>
            </a:r>
            <a:r>
              <a:rPr lang="es-ES" sz="18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 </a:t>
            </a:r>
            <a:r>
              <a:rPr lang="es-ES" sz="1800" dirty="0" err="1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dotnet</a:t>
            </a:r>
            <a:r>
              <a:rPr lang="es-ES" sz="18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 run </a:t>
            </a:r>
            <a:r>
              <a:rPr lang="es-ES" sz="1800" dirty="0" err="1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to</a:t>
            </a:r>
            <a:r>
              <a:rPr lang="es-ES" sz="18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 </a:t>
            </a:r>
            <a:r>
              <a:rPr lang="es-ES" sz="1800" dirty="0" err="1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production</a:t>
            </a:r>
            <a:r>
              <a:rPr lang="es-ES" sz="18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: Aspire y </a:t>
            </a:r>
            <a:r>
              <a:rPr lang="es-ES" sz="1800" dirty="0" err="1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Dapr</a:t>
            </a:r>
            <a:r>
              <a:rPr lang="es-ES" sz="18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  <a:t> en Azure Container Apps</a:t>
            </a:r>
            <a:br>
              <a:rPr lang="es-ES" sz="3200" dirty="0">
                <a:solidFill>
                  <a:srgbClr val="00B2C2"/>
                </a:solidFill>
                <a:latin typeface="Arial Rounded MT Bold" panose="020F0704030504030204" pitchFamily="34" charset="0"/>
                <a:cs typeface="Kigelia Arabic Light" panose="020F0502020204030204" pitchFamily="34" charset="0"/>
              </a:rPr>
            </a:br>
            <a:endParaRPr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51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play!</a:t>
            </a:r>
            <a:endParaRPr dirty="0"/>
          </a:p>
        </p:txBody>
      </p:sp>
      <p:sp>
        <p:nvSpPr>
          <p:cNvPr id="185" name="Google Shape;185;p19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ts val="5140"/>
              </a:lnSpc>
            </a:pPr>
            <a:r>
              <a:rPr lang="en-US" sz="2400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What is Azure Container Apps?</a:t>
            </a:r>
          </a:p>
          <a:p>
            <a:pPr>
              <a:spcBef>
                <a:spcPts val="0"/>
              </a:spcBef>
            </a:pPr>
            <a:r>
              <a:rPr lang="en-US" sz="2400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Understanding Autoscaling with KEDA</a:t>
            </a:r>
          </a:p>
          <a:p>
            <a:pPr>
              <a:spcBef>
                <a:spcPts val="0"/>
              </a:spcBef>
            </a:pPr>
            <a:r>
              <a:rPr lang="en-US" sz="2400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Overview of .NET Aspire</a:t>
            </a:r>
          </a:p>
          <a:p>
            <a:pPr>
              <a:spcBef>
                <a:spcPts val="0"/>
              </a:spcBef>
            </a:pPr>
            <a:r>
              <a:rPr lang="en-US" sz="2400" spc="-122" dirty="0" err="1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Dapr</a:t>
            </a:r>
            <a:r>
              <a:rPr lang="en-US" sz="2400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 Integration Overview</a:t>
            </a:r>
            <a:endParaRPr lang="es-ES" dirty="0">
              <a:latin typeface="Kulim Park Light" panose="020B0604020202020204" charset="0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400" spc="-122" dirty="0">
                <a:solidFill>
                  <a:srgbClr val="000000"/>
                </a:solidFill>
                <a:latin typeface="Kulim Park Light" panose="020B0604020202020204" charset="0"/>
              </a:rPr>
              <a:t>Demo!</a:t>
            </a:r>
            <a:endParaRPr sz="2400" spc="-122" dirty="0">
              <a:solidFill>
                <a:srgbClr val="000000"/>
              </a:solidFill>
              <a:latin typeface="Kulim Park Light" panose="020B0604020202020204" charset="0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</p:txBody>
      </p:sp>
      <p:sp>
        <p:nvSpPr>
          <p:cNvPr id="186" name="Google Shape;186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ctrTitle"/>
          </p:nvPr>
        </p:nvSpPr>
        <p:spPr>
          <a:xfrm>
            <a:off x="685799" y="2123599"/>
            <a:ext cx="8124246" cy="56747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1. </a:t>
            </a:r>
            <a:r>
              <a:rPr lang="en-US" dirty="0"/>
              <a:t>What is Azure Container Apps?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What is Azure Container Apps?</a:t>
            </a:r>
            <a:endParaRPr lang="es-ES"/>
          </a:p>
        </p:txBody>
      </p:sp>
      <p:sp>
        <p:nvSpPr>
          <p:cNvPr id="238" name="Google Shape;238;p23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Azure Container Apps (ACA) is a serverless application platform for containers that simplifies deployment while managing infrastructure, allowing .NET developers to focus on building scalable microservices.</a:t>
            </a:r>
            <a:endParaRPr lang="es-ES" dirty="0"/>
          </a:p>
        </p:txBody>
      </p:sp>
      <p:sp>
        <p:nvSpPr>
          <p:cNvPr id="239" name="Google Shape;239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7</a:t>
            </a:fld>
            <a:endParaRPr lang="es-ES"/>
          </a:p>
        </p:txBody>
      </p:sp>
      <p:pic>
        <p:nvPicPr>
          <p:cNvPr id="4" name="Imagen 2">
            <a:extLst>
              <a:ext uri="{FF2B5EF4-FFF2-40B4-BE49-F238E27FC236}">
                <a16:creationId xmlns:a16="http://schemas.microsoft.com/office/drawing/2014/main" id="{7FB7DCF6-EA43-931F-9D23-68AD11A78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691" y="1823188"/>
            <a:ext cx="3518309" cy="23455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7B82B9C2-3F8E-D409-5425-9761A17F4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8EE44718-944C-2F0F-70CF-1ED4A418B4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s-ES"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41F09031-EE5F-4385-DCDA-A66EC2D788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05759" y="619579"/>
            <a:ext cx="5214938" cy="71755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Benefits for .NET Teams</a:t>
            </a:r>
          </a:p>
        </p:txBody>
      </p:sp>
      <p:sp>
        <p:nvSpPr>
          <p:cNvPr id="238" name="Google Shape;238;p23">
            <a:extLst>
              <a:ext uri="{FF2B5EF4-FFF2-40B4-BE49-F238E27FC236}">
                <a16:creationId xmlns:a16="http://schemas.microsoft.com/office/drawing/2014/main" id="{ECDC8830-74ED-B681-7A86-9B2C6D5731A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814346" y="1805039"/>
            <a:ext cx="5214938" cy="2944812"/>
          </a:xfrm>
        </p:spPr>
        <p:txBody>
          <a:bodyPr spcFirstLastPara="1" wrap="square" lIns="0" tIns="0" rIns="0" bIns="0" anchor="t" anchorCtr="0">
            <a:normAutofit/>
          </a:bodyPr>
          <a:lstStyle/>
          <a:p>
            <a:pPr marL="342900" indent="-342900"/>
            <a:r>
              <a:rPr lang="en-US" sz="2000" dirty="0"/>
              <a:t>Simple deployment process</a:t>
            </a:r>
          </a:p>
          <a:p>
            <a:pPr marL="342900" indent="-342900"/>
            <a:r>
              <a:rPr lang="en-US" sz="2000" dirty="0"/>
              <a:t>Smart autoscaling capabilities</a:t>
            </a:r>
          </a:p>
          <a:p>
            <a:pPr marL="342900" indent="-342900"/>
            <a:r>
              <a:rPr lang="en-US" sz="2000" dirty="0"/>
              <a:t>Safe release management</a:t>
            </a:r>
          </a:p>
          <a:p>
            <a:pPr marL="342900" indent="-342900"/>
            <a:r>
              <a:rPr lang="en-US" sz="2000" dirty="0"/>
              <a:t>Cost-effective resource usage</a:t>
            </a:r>
          </a:p>
          <a:p>
            <a:pPr marL="342900" indent="-342900"/>
            <a:r>
              <a:rPr lang="en-US" sz="2000" dirty="0"/>
              <a:t>Enhanced developer productivity</a:t>
            </a:r>
          </a:p>
        </p:txBody>
      </p:sp>
      <p:pic>
        <p:nvPicPr>
          <p:cNvPr id="2" name="Picture 2" descr="4 Key Benefits of Using Business Intelligence Tools">
            <a:extLst>
              <a:ext uri="{FF2B5EF4-FFF2-40B4-BE49-F238E27FC236}">
                <a16:creationId xmlns:a16="http://schemas.microsoft.com/office/drawing/2014/main" id="{500A0B1B-5716-4662-E597-0C8049019E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2" r="10551"/>
          <a:stretch>
            <a:fillRect/>
          </a:stretch>
        </p:blipFill>
        <p:spPr bwMode="auto">
          <a:xfrm rot="5400000">
            <a:off x="-159259" y="1569066"/>
            <a:ext cx="3628572" cy="3520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35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1054C63-A8C3-7338-9356-144DF0BCE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CBAD174D-017D-BD3D-1C0D-0ECD04F9B9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s-ES"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150A6C95-68D1-9965-19EA-4AB73A2BE6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56348" y="-170302"/>
            <a:ext cx="6821710" cy="71755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Comparing ACA, AKS, and App Service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65D7E99-A2D9-29EF-B8E8-C9ABBA366D2D}"/>
              </a:ext>
            </a:extLst>
          </p:cNvPr>
          <p:cNvGrpSpPr/>
          <p:nvPr/>
        </p:nvGrpSpPr>
        <p:grpSpPr>
          <a:xfrm>
            <a:off x="1068557" y="625475"/>
            <a:ext cx="3704508" cy="2836901"/>
            <a:chOff x="0" y="0"/>
            <a:chExt cx="1434943" cy="1098875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913139D2-BA65-CE5D-AE57-3C5D9E1B12A7}"/>
                </a:ext>
              </a:extLst>
            </p:cNvPr>
            <p:cNvSpPr/>
            <p:nvPr/>
          </p:nvSpPr>
          <p:spPr>
            <a:xfrm>
              <a:off x="0" y="0"/>
              <a:ext cx="1434943" cy="1098875"/>
            </a:xfrm>
            <a:custGeom>
              <a:avLst/>
              <a:gdLst/>
              <a:ahLst/>
              <a:cxnLst/>
              <a:rect l="l" t="t" r="r" b="b"/>
              <a:pathLst>
                <a:path w="1434943" h="1098875">
                  <a:moveTo>
                    <a:pt x="52576" y="0"/>
                  </a:moveTo>
                  <a:lnTo>
                    <a:pt x="1382367" y="0"/>
                  </a:lnTo>
                  <a:cubicBezTo>
                    <a:pt x="1396311" y="0"/>
                    <a:pt x="1409684" y="5539"/>
                    <a:pt x="1419544" y="15399"/>
                  </a:cubicBezTo>
                  <a:cubicBezTo>
                    <a:pt x="1429404" y="25259"/>
                    <a:pt x="1434943" y="38632"/>
                    <a:pt x="1434943" y="52576"/>
                  </a:cubicBezTo>
                  <a:lnTo>
                    <a:pt x="1434943" y="1046299"/>
                  </a:lnTo>
                  <a:cubicBezTo>
                    <a:pt x="1434943" y="1060243"/>
                    <a:pt x="1429404" y="1073616"/>
                    <a:pt x="1419544" y="1083476"/>
                  </a:cubicBezTo>
                  <a:cubicBezTo>
                    <a:pt x="1409684" y="1093336"/>
                    <a:pt x="1396311" y="1098875"/>
                    <a:pt x="1382367" y="1098875"/>
                  </a:cubicBezTo>
                  <a:lnTo>
                    <a:pt x="52576" y="1098875"/>
                  </a:lnTo>
                  <a:cubicBezTo>
                    <a:pt x="23539" y="1098875"/>
                    <a:pt x="0" y="1075336"/>
                    <a:pt x="0" y="1046299"/>
                  </a:cubicBezTo>
                  <a:lnTo>
                    <a:pt x="0" y="52576"/>
                  </a:lnTo>
                  <a:cubicBezTo>
                    <a:pt x="0" y="23539"/>
                    <a:pt x="23539" y="0"/>
                    <a:pt x="525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6">
              <a:extLst>
                <a:ext uri="{FF2B5EF4-FFF2-40B4-BE49-F238E27FC236}">
                  <a16:creationId xmlns:a16="http://schemas.microsoft.com/office/drawing/2014/main" id="{C8ECFDFB-9F32-758A-95C2-2182FE1F9EB2}"/>
                </a:ext>
              </a:extLst>
            </p:cNvPr>
            <p:cNvSpPr txBox="1"/>
            <p:nvPr/>
          </p:nvSpPr>
          <p:spPr>
            <a:xfrm>
              <a:off x="0" y="-57150"/>
              <a:ext cx="1434943" cy="1156025"/>
            </a:xfrm>
            <a:prstGeom prst="rect">
              <a:avLst/>
            </a:prstGeom>
          </p:spPr>
          <p:txBody>
            <a:bodyPr lIns="34541" tIns="34541" rIns="34541" bIns="34541" rtlCol="0" anchor="ctr"/>
            <a:lstStyle/>
            <a:p>
              <a:pPr algn="ctr">
                <a:lnSpc>
                  <a:spcPts val="2284"/>
                </a:lnSpc>
                <a:spcBef>
                  <a:spcPct val="0"/>
                </a:spcBef>
              </a:pPr>
              <a:endParaRPr sz="1224"/>
            </a:p>
          </p:txBody>
        </p:sp>
      </p:grpSp>
      <p:grpSp>
        <p:nvGrpSpPr>
          <p:cNvPr id="6" name="Group 7">
            <a:extLst>
              <a:ext uri="{FF2B5EF4-FFF2-40B4-BE49-F238E27FC236}">
                <a16:creationId xmlns:a16="http://schemas.microsoft.com/office/drawing/2014/main" id="{55A1D1F5-B160-6B0F-90C6-F9D1DFA4E7B4}"/>
              </a:ext>
            </a:extLst>
          </p:cNvPr>
          <p:cNvGrpSpPr/>
          <p:nvPr/>
        </p:nvGrpSpPr>
        <p:grpSpPr>
          <a:xfrm>
            <a:off x="4980309" y="625475"/>
            <a:ext cx="3704508" cy="2836901"/>
            <a:chOff x="0" y="0"/>
            <a:chExt cx="1434943" cy="1098875"/>
          </a:xfrm>
        </p:grpSpPr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04DC998-D80D-47C6-A084-C88A3E405A3E}"/>
                </a:ext>
              </a:extLst>
            </p:cNvPr>
            <p:cNvSpPr/>
            <p:nvPr/>
          </p:nvSpPr>
          <p:spPr>
            <a:xfrm>
              <a:off x="0" y="0"/>
              <a:ext cx="1434943" cy="1098875"/>
            </a:xfrm>
            <a:custGeom>
              <a:avLst/>
              <a:gdLst/>
              <a:ahLst/>
              <a:cxnLst/>
              <a:rect l="l" t="t" r="r" b="b"/>
              <a:pathLst>
                <a:path w="1434943" h="1098875">
                  <a:moveTo>
                    <a:pt x="52576" y="0"/>
                  </a:moveTo>
                  <a:lnTo>
                    <a:pt x="1382367" y="0"/>
                  </a:lnTo>
                  <a:cubicBezTo>
                    <a:pt x="1396311" y="0"/>
                    <a:pt x="1409684" y="5539"/>
                    <a:pt x="1419544" y="15399"/>
                  </a:cubicBezTo>
                  <a:cubicBezTo>
                    <a:pt x="1429404" y="25259"/>
                    <a:pt x="1434943" y="38632"/>
                    <a:pt x="1434943" y="52576"/>
                  </a:cubicBezTo>
                  <a:lnTo>
                    <a:pt x="1434943" y="1046299"/>
                  </a:lnTo>
                  <a:cubicBezTo>
                    <a:pt x="1434943" y="1060243"/>
                    <a:pt x="1429404" y="1073616"/>
                    <a:pt x="1419544" y="1083476"/>
                  </a:cubicBezTo>
                  <a:cubicBezTo>
                    <a:pt x="1409684" y="1093336"/>
                    <a:pt x="1396311" y="1098875"/>
                    <a:pt x="1382367" y="1098875"/>
                  </a:cubicBezTo>
                  <a:lnTo>
                    <a:pt x="52576" y="1098875"/>
                  </a:lnTo>
                  <a:cubicBezTo>
                    <a:pt x="23539" y="1098875"/>
                    <a:pt x="0" y="1075336"/>
                    <a:pt x="0" y="1046299"/>
                  </a:cubicBezTo>
                  <a:lnTo>
                    <a:pt x="0" y="52576"/>
                  </a:lnTo>
                  <a:cubicBezTo>
                    <a:pt x="0" y="23539"/>
                    <a:pt x="23539" y="0"/>
                    <a:pt x="5257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4616C0A0-1905-1D2E-1E87-7A22D5788312}"/>
                </a:ext>
              </a:extLst>
            </p:cNvPr>
            <p:cNvSpPr txBox="1"/>
            <p:nvPr/>
          </p:nvSpPr>
          <p:spPr>
            <a:xfrm>
              <a:off x="0" y="-57150"/>
              <a:ext cx="1434943" cy="1156025"/>
            </a:xfrm>
            <a:prstGeom prst="rect">
              <a:avLst/>
            </a:prstGeom>
          </p:spPr>
          <p:txBody>
            <a:bodyPr lIns="34541" tIns="34541" rIns="34541" bIns="34541" rtlCol="0" anchor="ctr"/>
            <a:lstStyle/>
            <a:p>
              <a:pPr algn="ctr">
                <a:lnSpc>
                  <a:spcPts val="2284"/>
                </a:lnSpc>
                <a:spcBef>
                  <a:spcPct val="0"/>
                </a:spcBef>
              </a:pPr>
              <a:endParaRPr sz="1224"/>
            </a:p>
          </p:txBody>
        </p:sp>
      </p:grpSp>
      <p:grpSp>
        <p:nvGrpSpPr>
          <p:cNvPr id="9" name="Group 10">
            <a:extLst>
              <a:ext uri="{FF2B5EF4-FFF2-40B4-BE49-F238E27FC236}">
                <a16:creationId xmlns:a16="http://schemas.microsoft.com/office/drawing/2014/main" id="{ACA30962-B50F-CB79-0725-9349E10F6AE4}"/>
              </a:ext>
            </a:extLst>
          </p:cNvPr>
          <p:cNvGrpSpPr/>
          <p:nvPr/>
        </p:nvGrpSpPr>
        <p:grpSpPr>
          <a:xfrm>
            <a:off x="5181375" y="798950"/>
            <a:ext cx="3302378" cy="2490016"/>
            <a:chOff x="0" y="0"/>
            <a:chExt cx="769414" cy="580144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D1751158-2841-4595-2AFF-7D13FA57A16A}"/>
                </a:ext>
              </a:extLst>
            </p:cNvPr>
            <p:cNvSpPr/>
            <p:nvPr/>
          </p:nvSpPr>
          <p:spPr>
            <a:xfrm>
              <a:off x="0" y="0"/>
              <a:ext cx="769415" cy="580144"/>
            </a:xfrm>
            <a:custGeom>
              <a:avLst/>
              <a:gdLst/>
              <a:ahLst/>
              <a:cxnLst/>
              <a:rect l="l" t="t" r="r" b="b"/>
              <a:pathLst>
                <a:path w="769415" h="580144">
                  <a:moveTo>
                    <a:pt x="39850" y="0"/>
                  </a:moveTo>
                  <a:lnTo>
                    <a:pt x="729564" y="0"/>
                  </a:lnTo>
                  <a:cubicBezTo>
                    <a:pt x="751573" y="0"/>
                    <a:pt x="769415" y="17842"/>
                    <a:pt x="769415" y="39850"/>
                  </a:cubicBezTo>
                  <a:lnTo>
                    <a:pt x="769415" y="540294"/>
                  </a:lnTo>
                  <a:cubicBezTo>
                    <a:pt x="769415" y="550862"/>
                    <a:pt x="765216" y="560999"/>
                    <a:pt x="757743" y="568472"/>
                  </a:cubicBezTo>
                  <a:cubicBezTo>
                    <a:pt x="750269" y="575945"/>
                    <a:pt x="740133" y="580144"/>
                    <a:pt x="729564" y="580144"/>
                  </a:cubicBezTo>
                  <a:lnTo>
                    <a:pt x="39850" y="580144"/>
                  </a:lnTo>
                  <a:cubicBezTo>
                    <a:pt x="29281" y="580144"/>
                    <a:pt x="19145" y="575945"/>
                    <a:pt x="11672" y="568472"/>
                  </a:cubicBezTo>
                  <a:cubicBezTo>
                    <a:pt x="4198" y="560999"/>
                    <a:pt x="0" y="550862"/>
                    <a:pt x="0" y="540294"/>
                  </a:cubicBezTo>
                  <a:lnTo>
                    <a:pt x="0" y="39850"/>
                  </a:lnTo>
                  <a:cubicBezTo>
                    <a:pt x="0" y="29281"/>
                    <a:pt x="4198" y="19145"/>
                    <a:pt x="11672" y="11672"/>
                  </a:cubicBezTo>
                  <a:cubicBezTo>
                    <a:pt x="19145" y="4198"/>
                    <a:pt x="29281" y="0"/>
                    <a:pt x="398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1" name="Group 12">
            <a:extLst>
              <a:ext uri="{FF2B5EF4-FFF2-40B4-BE49-F238E27FC236}">
                <a16:creationId xmlns:a16="http://schemas.microsoft.com/office/drawing/2014/main" id="{F2C7C35F-7760-65FE-D859-743A0465DED8}"/>
              </a:ext>
            </a:extLst>
          </p:cNvPr>
          <p:cNvGrpSpPr/>
          <p:nvPr/>
        </p:nvGrpSpPr>
        <p:grpSpPr>
          <a:xfrm>
            <a:off x="1269622" y="798950"/>
            <a:ext cx="3302378" cy="2490016"/>
            <a:chOff x="0" y="0"/>
            <a:chExt cx="769414" cy="580144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F6DC01C6-933A-114E-B1F6-D7625CD0FFA5}"/>
                </a:ext>
              </a:extLst>
            </p:cNvPr>
            <p:cNvSpPr/>
            <p:nvPr/>
          </p:nvSpPr>
          <p:spPr>
            <a:xfrm>
              <a:off x="0" y="0"/>
              <a:ext cx="769415" cy="580144"/>
            </a:xfrm>
            <a:custGeom>
              <a:avLst/>
              <a:gdLst/>
              <a:ahLst/>
              <a:cxnLst/>
              <a:rect l="l" t="t" r="r" b="b"/>
              <a:pathLst>
                <a:path w="769415" h="580144">
                  <a:moveTo>
                    <a:pt x="39850" y="0"/>
                  </a:moveTo>
                  <a:lnTo>
                    <a:pt x="729564" y="0"/>
                  </a:lnTo>
                  <a:cubicBezTo>
                    <a:pt x="751573" y="0"/>
                    <a:pt x="769415" y="17842"/>
                    <a:pt x="769415" y="39850"/>
                  </a:cubicBezTo>
                  <a:lnTo>
                    <a:pt x="769415" y="540294"/>
                  </a:lnTo>
                  <a:cubicBezTo>
                    <a:pt x="769415" y="550862"/>
                    <a:pt x="765216" y="560999"/>
                    <a:pt x="757743" y="568472"/>
                  </a:cubicBezTo>
                  <a:cubicBezTo>
                    <a:pt x="750269" y="575945"/>
                    <a:pt x="740133" y="580144"/>
                    <a:pt x="729564" y="580144"/>
                  </a:cubicBezTo>
                  <a:lnTo>
                    <a:pt x="39850" y="580144"/>
                  </a:lnTo>
                  <a:cubicBezTo>
                    <a:pt x="29281" y="580144"/>
                    <a:pt x="19145" y="575945"/>
                    <a:pt x="11672" y="568472"/>
                  </a:cubicBezTo>
                  <a:cubicBezTo>
                    <a:pt x="4198" y="560999"/>
                    <a:pt x="0" y="550862"/>
                    <a:pt x="0" y="540294"/>
                  </a:cubicBezTo>
                  <a:lnTo>
                    <a:pt x="0" y="39850"/>
                  </a:lnTo>
                  <a:cubicBezTo>
                    <a:pt x="0" y="29281"/>
                    <a:pt x="4198" y="19145"/>
                    <a:pt x="11672" y="11672"/>
                  </a:cubicBezTo>
                  <a:cubicBezTo>
                    <a:pt x="19145" y="4198"/>
                    <a:pt x="29281" y="0"/>
                    <a:pt x="398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3" name="Group 14">
            <a:extLst>
              <a:ext uri="{FF2B5EF4-FFF2-40B4-BE49-F238E27FC236}">
                <a16:creationId xmlns:a16="http://schemas.microsoft.com/office/drawing/2014/main" id="{28E0AD48-4E78-71A0-7799-D307EF23567E}"/>
              </a:ext>
            </a:extLst>
          </p:cNvPr>
          <p:cNvGrpSpPr/>
          <p:nvPr/>
        </p:nvGrpSpPr>
        <p:grpSpPr>
          <a:xfrm>
            <a:off x="1427114" y="3695441"/>
            <a:ext cx="2987394" cy="969122"/>
            <a:chOff x="0" y="-66675"/>
            <a:chExt cx="5858166" cy="1900412"/>
          </a:xfrm>
        </p:grpSpPr>
        <p:sp>
          <p:nvSpPr>
            <p:cNvPr id="14" name="TextBox 15">
              <a:extLst>
                <a:ext uri="{FF2B5EF4-FFF2-40B4-BE49-F238E27FC236}">
                  <a16:creationId xmlns:a16="http://schemas.microsoft.com/office/drawing/2014/main" id="{BBBDC5D7-02C5-DB4F-2F78-592AF7414562}"/>
                </a:ext>
              </a:extLst>
            </p:cNvPr>
            <p:cNvSpPr txBox="1"/>
            <p:nvPr/>
          </p:nvSpPr>
          <p:spPr>
            <a:xfrm>
              <a:off x="0" y="-66675"/>
              <a:ext cx="5858166" cy="682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  <a:spcBef>
                  <a:spcPct val="0"/>
                </a:spcBef>
              </a:pPr>
              <a:r>
                <a:rPr lang="en-US" sz="2148" b="1" spc="-53" dirty="0">
                  <a:solidFill>
                    <a:srgbClr val="000000"/>
                  </a:solidFill>
                  <a:latin typeface="Kulim Park Light" panose="020B0604020202020204" charset="0"/>
                  <a:ea typeface="Barlow Bold"/>
                  <a:cs typeface="Barlow Bold"/>
                  <a:sym typeface="Barlow Bold"/>
                </a:rPr>
                <a:t>Azure Container Apps</a:t>
              </a:r>
            </a:p>
          </p:txBody>
        </p:sp>
        <p:sp>
          <p:nvSpPr>
            <p:cNvPr id="15" name="TextBox 16">
              <a:extLst>
                <a:ext uri="{FF2B5EF4-FFF2-40B4-BE49-F238E27FC236}">
                  <a16:creationId xmlns:a16="http://schemas.microsoft.com/office/drawing/2014/main" id="{438DC008-31AF-244F-A51A-35E309C6A681}"/>
                </a:ext>
              </a:extLst>
            </p:cNvPr>
            <p:cNvSpPr txBox="1"/>
            <p:nvPr/>
          </p:nvSpPr>
          <p:spPr>
            <a:xfrm>
              <a:off x="0" y="786850"/>
              <a:ext cx="5858166" cy="1046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9"/>
                </a:lnSpc>
                <a:spcBef>
                  <a:spcPct val="0"/>
                </a:spcBef>
              </a:pP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A serverless platform for containerized microservices.</a:t>
              </a: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CFF05359-FFC1-4D00-1299-684C96F482B9}"/>
              </a:ext>
            </a:extLst>
          </p:cNvPr>
          <p:cNvGrpSpPr/>
          <p:nvPr/>
        </p:nvGrpSpPr>
        <p:grpSpPr>
          <a:xfrm>
            <a:off x="5338865" y="3695441"/>
            <a:ext cx="2988887" cy="969122"/>
            <a:chOff x="-2928" y="-66675"/>
            <a:chExt cx="5861094" cy="1900413"/>
          </a:xfrm>
        </p:grpSpPr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857C5481-8D45-EE07-978B-B07735E759FC}"/>
                </a:ext>
              </a:extLst>
            </p:cNvPr>
            <p:cNvSpPr txBox="1"/>
            <p:nvPr/>
          </p:nvSpPr>
          <p:spPr>
            <a:xfrm>
              <a:off x="0" y="-66675"/>
              <a:ext cx="5858166" cy="682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7"/>
                </a:lnSpc>
                <a:spcBef>
                  <a:spcPct val="0"/>
                </a:spcBef>
              </a:pPr>
              <a:r>
                <a:rPr lang="en-US" sz="2148" b="1" spc="-53" dirty="0">
                  <a:solidFill>
                    <a:srgbClr val="000000"/>
                  </a:solidFill>
                  <a:latin typeface="Kulim Park Light" panose="020B0604020202020204" charset="0"/>
                  <a:ea typeface="Barlow Bold"/>
                  <a:cs typeface="Barlow Bold"/>
                  <a:sym typeface="Barlow Bold"/>
                </a:rPr>
                <a:t>Azure Kubernetes Service</a:t>
              </a:r>
            </a:p>
          </p:txBody>
        </p:sp>
        <p:sp>
          <p:nvSpPr>
            <p:cNvPr id="18" name="TextBox 19">
              <a:extLst>
                <a:ext uri="{FF2B5EF4-FFF2-40B4-BE49-F238E27FC236}">
                  <a16:creationId xmlns:a16="http://schemas.microsoft.com/office/drawing/2014/main" id="{4BD185A4-1C8A-C7E4-BA2A-2095150E3D0F}"/>
                </a:ext>
              </a:extLst>
            </p:cNvPr>
            <p:cNvSpPr txBox="1"/>
            <p:nvPr/>
          </p:nvSpPr>
          <p:spPr>
            <a:xfrm>
              <a:off x="-2928" y="786852"/>
              <a:ext cx="5858166" cy="1046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9"/>
                </a:lnSpc>
                <a:spcBef>
                  <a:spcPct val="0"/>
                </a:spcBef>
              </a:pP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Full control and flexibility for Kubernetes workloads.</a:t>
              </a:r>
            </a:p>
          </p:txBody>
        </p:sp>
      </p:grpSp>
      <p:pic>
        <p:nvPicPr>
          <p:cNvPr id="19" name="Picture 2" descr="Azure Container Apps (@AzContainerApp) / X">
            <a:extLst>
              <a:ext uri="{FF2B5EF4-FFF2-40B4-BE49-F238E27FC236}">
                <a16:creationId xmlns:a16="http://schemas.microsoft.com/office/drawing/2014/main" id="{6884B717-6C1F-83F0-E29F-96BC9C64B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617" y="798950"/>
            <a:ext cx="2344387" cy="234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Precios: Azure Kubernetes Service (AKS) | Microsoft Azure">
            <a:extLst>
              <a:ext uri="{FF2B5EF4-FFF2-40B4-BE49-F238E27FC236}">
                <a16:creationId xmlns:a16="http://schemas.microsoft.com/office/drawing/2014/main" id="{A7218CB0-4EDD-4DFA-DC9F-71720BE42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517" y="981339"/>
            <a:ext cx="4118091" cy="2161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32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F4ACB24C-FDAD-1FEE-F7FE-C1E6004A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C251313E-9511-403C-6D4C-E9F36F6361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s-ES"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2346B68B-6FBA-B7E4-D66B-9F6110306B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56348" y="-170302"/>
            <a:ext cx="6821710" cy="71755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Comparing ACA, AKS, and App Service</a:t>
            </a:r>
          </a:p>
        </p:txBody>
      </p:sp>
      <p:graphicFrame>
        <p:nvGraphicFramePr>
          <p:cNvPr id="4" name="Tabla 21">
            <a:extLst>
              <a:ext uri="{FF2B5EF4-FFF2-40B4-BE49-F238E27FC236}">
                <a16:creationId xmlns:a16="http://schemas.microsoft.com/office/drawing/2014/main" id="{048AD170-6C3C-5A9E-4277-DFDBF042B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762169"/>
              </p:ext>
            </p:extLst>
          </p:nvPr>
        </p:nvGraphicFramePr>
        <p:xfrm>
          <a:off x="486228" y="1007586"/>
          <a:ext cx="8171544" cy="3338505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058725">
                  <a:extLst>
                    <a:ext uri="{9D8B030D-6E8A-4147-A177-3AD203B41FA5}">
                      <a16:colId xmlns:a16="http://schemas.microsoft.com/office/drawing/2014/main" val="728019139"/>
                    </a:ext>
                  </a:extLst>
                </a:gridCol>
                <a:gridCol w="2108204">
                  <a:extLst>
                    <a:ext uri="{9D8B030D-6E8A-4147-A177-3AD203B41FA5}">
                      <a16:colId xmlns:a16="http://schemas.microsoft.com/office/drawing/2014/main" val="3098537322"/>
                    </a:ext>
                  </a:extLst>
                </a:gridCol>
                <a:gridCol w="2322168">
                  <a:extLst>
                    <a:ext uri="{9D8B030D-6E8A-4147-A177-3AD203B41FA5}">
                      <a16:colId xmlns:a16="http://schemas.microsoft.com/office/drawing/2014/main" val="3923019469"/>
                    </a:ext>
                  </a:extLst>
                </a:gridCol>
                <a:gridCol w="1682447">
                  <a:extLst>
                    <a:ext uri="{9D8B030D-6E8A-4147-A177-3AD203B41FA5}">
                      <a16:colId xmlns:a16="http://schemas.microsoft.com/office/drawing/2014/main" val="1246318436"/>
                    </a:ext>
                  </a:extLst>
                </a:gridCol>
              </a:tblGrid>
              <a:tr h="767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Feature</a:t>
                      </a:r>
                      <a:endParaRPr lang="es-ES" sz="2000" b="1" dirty="0">
                        <a:solidFill>
                          <a:schemeClr val="tx1"/>
                        </a:solidFill>
                        <a:latin typeface="Kulim Park Light" panose="020B0604020202020204" charset="0"/>
                      </a:endParaRPr>
                    </a:p>
                  </a:txBody>
                  <a:tcPr marL="87180" marR="87180" marT="43590" marB="4359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Container Apps</a:t>
                      </a:r>
                    </a:p>
                  </a:txBody>
                  <a:tcPr marL="87180" marR="87180" marT="43590" marB="4359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AKS (Kubernetes)</a:t>
                      </a:r>
                    </a:p>
                  </a:txBody>
                  <a:tcPr marL="87180" marR="87180" marT="43590" marB="4359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1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App Service</a:t>
                      </a:r>
                    </a:p>
                  </a:txBody>
                  <a:tcPr marL="87180" marR="87180" marT="43590" marB="43590"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074304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Management </a:t>
                      </a: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Infrastructure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Kulim Park Light" panose="020B0604020202020204" charset="0"/>
                      </a:endParaRP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No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Yes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No</a:t>
                      </a:r>
                    </a:p>
                  </a:txBody>
                  <a:tcPr marL="87180" marR="87180" marT="43590" marB="43590" anchor="ctr"/>
                </a:tc>
                <a:extLst>
                  <a:ext uri="{0D108BD9-81ED-4DB2-BD59-A6C34878D82A}">
                    <a16:rowId xmlns:a16="http://schemas.microsoft.com/office/drawing/2014/main" val="3068840558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Scaled</a:t>
                      </a: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 </a:t>
                      </a: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to</a:t>
                      </a: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 0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Sí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No (manual)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No</a:t>
                      </a:r>
                    </a:p>
                  </a:txBody>
                  <a:tcPr marL="87180" marR="87180" marT="43590" marB="43590" anchor="ctr"/>
                </a:tc>
                <a:extLst>
                  <a:ext uri="{0D108BD9-81ED-4DB2-BD59-A6C34878D82A}">
                    <a16:rowId xmlns:a16="http://schemas.microsoft.com/office/drawing/2014/main" val="3027491489"/>
                  </a:ext>
                </a:extLst>
              </a:tr>
              <a:tr h="3646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Complexity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Kulim Park Light" panose="020B0604020202020204" charset="0"/>
                      </a:endParaRP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Low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High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Low</a:t>
                      </a:r>
                    </a:p>
                  </a:txBody>
                  <a:tcPr marL="87180" marR="87180" marT="43590" marB="43590" anchor="ctr"/>
                </a:tc>
                <a:extLst>
                  <a:ext uri="{0D108BD9-81ED-4DB2-BD59-A6C34878D82A}">
                    <a16:rowId xmlns:a16="http://schemas.microsoft.com/office/drawing/2014/main" val="2636836941"/>
                  </a:ext>
                </a:extLst>
              </a:tr>
              <a:tr h="63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Microservices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Kulim Park Light" panose="020B0604020202020204" charset="0"/>
                      </a:endParaRP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Yes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Yes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Limited</a:t>
                      </a:r>
                      <a:endParaRPr lang="es-ES" sz="1600" b="0" dirty="0">
                        <a:solidFill>
                          <a:schemeClr val="tx1"/>
                        </a:solidFill>
                        <a:latin typeface="Kulim Park Light" panose="020B0604020202020204" charset="0"/>
                      </a:endParaRPr>
                    </a:p>
                  </a:txBody>
                  <a:tcPr marL="87180" marR="87180" marT="43590" marB="43590" anchor="ctr"/>
                </a:tc>
                <a:extLst>
                  <a:ext uri="{0D108BD9-81ED-4DB2-BD59-A6C34878D82A}">
                    <a16:rowId xmlns:a16="http://schemas.microsoft.com/office/drawing/2014/main" val="3433082029"/>
                  </a:ext>
                </a:extLst>
              </a:tr>
              <a:tr h="633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 err="1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Advanced</a:t>
                      </a: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 Control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Medium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High</a:t>
                      </a:r>
                    </a:p>
                  </a:txBody>
                  <a:tcPr marL="87180" marR="87180" marT="43590" marB="435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600" b="0" dirty="0">
                          <a:solidFill>
                            <a:schemeClr val="tx1"/>
                          </a:solidFill>
                          <a:latin typeface="Kulim Park Light" panose="020B0604020202020204" charset="0"/>
                        </a:rPr>
                        <a:t>Low</a:t>
                      </a:r>
                    </a:p>
                  </a:txBody>
                  <a:tcPr marL="87180" marR="87180" marT="43590" marB="43590" anchor="ctr"/>
                </a:tc>
                <a:extLst>
                  <a:ext uri="{0D108BD9-81ED-4DB2-BD59-A6C34878D82A}">
                    <a16:rowId xmlns:a16="http://schemas.microsoft.com/office/drawing/2014/main" val="161520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4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32B9EC7D-2B05-A618-0581-67F57CC0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95215AFC-7A01-DEFE-3EA6-7A3FEF3A64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s-ES"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71BC3384-E4E0-0E4D-7D83-1CD15B08448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56348" y="-170302"/>
            <a:ext cx="6821710" cy="71755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Comparing ACA, AKS, and App Service</a:t>
            </a:r>
          </a:p>
        </p:txBody>
      </p:sp>
      <p:pic>
        <p:nvPicPr>
          <p:cNvPr id="21" name="Imagen 24">
            <a:extLst>
              <a:ext uri="{FF2B5EF4-FFF2-40B4-BE49-F238E27FC236}">
                <a16:creationId xmlns:a16="http://schemas.microsoft.com/office/drawing/2014/main" id="{F45A1AED-224A-CDF0-FEB5-635FDB0E5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644" y="761378"/>
            <a:ext cx="5982712" cy="398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35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A7F25767-9113-0510-E904-33E69126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BACCM (Business Analysis Core Concept Model) | Guidance To Business  Analysis 6 Essential Key Concepts">
            <a:extLst>
              <a:ext uri="{FF2B5EF4-FFF2-40B4-BE49-F238E27FC236}">
                <a16:creationId xmlns:a16="http://schemas.microsoft.com/office/drawing/2014/main" id="{BC446E98-45DA-CE17-637C-C653C8C4B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7" r="9692"/>
          <a:stretch>
            <a:fillRect/>
          </a:stretch>
        </p:blipFill>
        <p:spPr bwMode="auto">
          <a:xfrm>
            <a:off x="5679669" y="566"/>
            <a:ext cx="3464331" cy="423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1F8A59EB-097A-0E2C-417B-AA3C25620E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s-ES" dirty="0"/>
          </a:p>
        </p:txBody>
      </p:sp>
      <p:sp>
        <p:nvSpPr>
          <p:cNvPr id="237" name="Google Shape;237;p23">
            <a:extLst>
              <a:ext uri="{FF2B5EF4-FFF2-40B4-BE49-F238E27FC236}">
                <a16:creationId xmlns:a16="http://schemas.microsoft.com/office/drawing/2014/main" id="{26ED5059-EE7C-F4A8-1451-A195EF0E9C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63416" y="679593"/>
            <a:ext cx="5214938" cy="717550"/>
          </a:xfr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Core Concepts of ACA</a:t>
            </a:r>
          </a:p>
        </p:txBody>
      </p:sp>
      <p:sp>
        <p:nvSpPr>
          <p:cNvPr id="238" name="Google Shape;238;p23">
            <a:extLst>
              <a:ext uri="{FF2B5EF4-FFF2-40B4-BE49-F238E27FC236}">
                <a16:creationId xmlns:a16="http://schemas.microsoft.com/office/drawing/2014/main" id="{D60F55D3-161C-47D9-7E29-14A80C4781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63416" y="1549482"/>
            <a:ext cx="5214938" cy="2944812"/>
          </a:xfr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/>
              <a:t>An environment acts as a secure boundary for your container apps, which can be deployed as revisions to enable safer updates and seamless rollbacks as needed.</a:t>
            </a:r>
          </a:p>
        </p:txBody>
      </p:sp>
      <p:sp>
        <p:nvSpPr>
          <p:cNvPr id="5" name="Google Shape;238;p23">
            <a:extLst>
              <a:ext uri="{FF2B5EF4-FFF2-40B4-BE49-F238E27FC236}">
                <a16:creationId xmlns:a16="http://schemas.microsoft.com/office/drawing/2014/main" id="{E270854F-052A-6568-1093-A2B6A9ADCFDD}"/>
              </a:ext>
            </a:extLst>
          </p:cNvPr>
          <p:cNvSpPr txBox="1">
            <a:spLocks/>
          </p:cNvSpPr>
          <p:nvPr/>
        </p:nvSpPr>
        <p:spPr>
          <a:xfrm>
            <a:off x="1964531" y="3023848"/>
            <a:ext cx="3464331" cy="189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marL="342900" indent="-342900"/>
            <a:r>
              <a:rPr lang="en-US" sz="1600" dirty="0"/>
              <a:t>Environment</a:t>
            </a:r>
          </a:p>
          <a:p>
            <a:pPr marL="342900" indent="-342900"/>
            <a:r>
              <a:rPr lang="en-US" sz="1600" dirty="0"/>
              <a:t>Revisions</a:t>
            </a:r>
          </a:p>
          <a:p>
            <a:pPr marL="342900" indent="-342900"/>
            <a:r>
              <a:rPr lang="en-US" sz="1600" dirty="0"/>
              <a:t>Ingress</a:t>
            </a:r>
          </a:p>
          <a:p>
            <a:pPr marL="342900" indent="-342900"/>
            <a:r>
              <a:rPr lang="en-US" sz="1600" dirty="0"/>
              <a:t>Scaling rules</a:t>
            </a:r>
          </a:p>
          <a:p>
            <a:pPr marL="342900" indent="-342900"/>
            <a:r>
              <a:rPr lang="en-US" sz="1600" dirty="0"/>
              <a:t>Secrets and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74669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AA7B5663-156F-827B-8FC7-BCA8D6AC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6353C379-1BB7-293E-D7DD-86199F89F3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13</a:t>
            </a:fld>
            <a:endParaRPr lang="es-ES" dirty="0"/>
          </a:p>
        </p:txBody>
      </p:sp>
      <p:pic>
        <p:nvPicPr>
          <p:cNvPr id="2" name="Picture 1" descr="Azure Container Apps environments.">
            <a:extLst>
              <a:ext uri="{FF2B5EF4-FFF2-40B4-BE49-F238E27FC236}">
                <a16:creationId xmlns:a16="http://schemas.microsoft.com/office/drawing/2014/main" id="{E91BF6FC-6CC9-E762-00BA-FEEAE87D0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7486" y="0"/>
            <a:ext cx="7126514" cy="482821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724956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D2DB73EE-C945-74E7-F5C0-F7356B4C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8972AB05-86B4-AAEF-8917-1C19DDA08D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s-ES" dirty="0"/>
          </a:p>
        </p:txBody>
      </p:sp>
      <p:pic>
        <p:nvPicPr>
          <p:cNvPr id="3" name="Picture 2" descr="Azure Container Apps: Containers">
            <a:extLst>
              <a:ext uri="{FF2B5EF4-FFF2-40B4-BE49-F238E27FC236}">
                <a16:creationId xmlns:a16="http://schemas.microsoft.com/office/drawing/2014/main" id="{0E00A806-496C-19C5-01F4-C40001619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4414" y="0"/>
            <a:ext cx="7169586" cy="474985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9925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F322C2B3-AABA-1448-B671-E3C48E11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0AD731FD-77C9-BB5D-8809-5342D45EDB7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8" y="1343771"/>
            <a:ext cx="8394591" cy="1347306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2. </a:t>
            </a:r>
            <a:r>
              <a:rPr lang="en-US" dirty="0"/>
              <a:t>Understanding Autoscaling with KEDA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9038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B824A62D-89BA-55F6-7090-EBFDA712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73B756B1-0AD2-EAA1-C407-12B40AD8C7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s-ES" dirty="0"/>
          </a:p>
        </p:txBody>
      </p:sp>
      <p:pic>
        <p:nvPicPr>
          <p:cNvPr id="3" name="Picture 2" descr="GitHub - kedacore/keda: KEDA is a Kubernetes-based Event Driven Autoscaling  component. It provides event driven scale for any container running in  Kubernetes">
            <a:extLst>
              <a:ext uri="{FF2B5EF4-FFF2-40B4-BE49-F238E27FC236}">
                <a16:creationId xmlns:a16="http://schemas.microsoft.com/office/drawing/2014/main" id="{97E0AFB1-E3B8-0279-6728-4A8D8473D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82" y="522514"/>
            <a:ext cx="2496457" cy="249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8">
            <a:extLst>
              <a:ext uri="{FF2B5EF4-FFF2-40B4-BE49-F238E27FC236}">
                <a16:creationId xmlns:a16="http://schemas.microsoft.com/office/drawing/2014/main" id="{4875AE51-EB3B-7474-D41C-30C714546EB4}"/>
              </a:ext>
            </a:extLst>
          </p:cNvPr>
          <p:cNvGrpSpPr/>
          <p:nvPr/>
        </p:nvGrpSpPr>
        <p:grpSpPr>
          <a:xfrm>
            <a:off x="3325357" y="1377550"/>
            <a:ext cx="6285511" cy="1602196"/>
            <a:chOff x="-5876030" y="618523"/>
            <a:chExt cx="12325651" cy="3141847"/>
          </a:xfrm>
        </p:grpSpPr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54FC812B-7716-6595-8E99-F698D5316417}"/>
                </a:ext>
              </a:extLst>
            </p:cNvPr>
            <p:cNvSpPr txBox="1"/>
            <p:nvPr/>
          </p:nvSpPr>
          <p:spPr>
            <a:xfrm>
              <a:off x="-5876030" y="618523"/>
              <a:ext cx="11099800" cy="10825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5140"/>
                </a:lnSpc>
              </a:pPr>
              <a:r>
                <a:rPr lang="en-US" sz="2400" b="1" spc="-122" dirty="0">
                  <a:solidFill>
                    <a:srgbClr val="000000"/>
                  </a:solidFill>
                  <a:latin typeface="Kulim Park" panose="020B0604020202020204" charset="0"/>
                  <a:ea typeface="Barlow"/>
                  <a:cs typeface="Barlow"/>
                  <a:sym typeface="Barlow"/>
                </a:rPr>
                <a:t>Key Features of KEDA</a:t>
              </a:r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B12A0CA0-2729-F2BC-99D8-A53AE8E71643}"/>
                </a:ext>
              </a:extLst>
            </p:cNvPr>
            <p:cNvSpPr txBox="1"/>
            <p:nvPr/>
          </p:nvSpPr>
          <p:spPr>
            <a:xfrm>
              <a:off x="-4650179" y="1374227"/>
              <a:ext cx="11099800" cy="67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6"/>
                </a:lnSpc>
              </a:pPr>
              <a:endParaRPr lang="en-US" sz="2176" b="1" spc="-54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endParaRPr>
            </a:p>
          </p:txBody>
        </p:sp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05183413-1938-CEFC-88EC-FE4B20F479E6}"/>
                </a:ext>
              </a:extLst>
            </p:cNvPr>
            <p:cNvSpPr txBox="1"/>
            <p:nvPr/>
          </p:nvSpPr>
          <p:spPr>
            <a:xfrm>
              <a:off x="-5876030" y="2160238"/>
              <a:ext cx="11099800" cy="1600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189"/>
                </a:lnSpc>
                <a:spcBef>
                  <a:spcPct val="0"/>
                </a:spcBef>
              </a:pP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KEDA enables </a:t>
              </a:r>
              <a:r>
                <a:rPr lang="en-US" sz="1564" b="1" spc="-39" dirty="0">
                  <a:solidFill>
                    <a:srgbClr val="000000"/>
                  </a:solidFill>
                  <a:latin typeface="Kulim Park Light" panose="020B0604020202020204" charset="0"/>
                  <a:ea typeface="Barlow Bold"/>
                  <a:cs typeface="Barlow Bold"/>
                  <a:sym typeface="Barlow Bold"/>
                </a:rPr>
                <a:t>dynamic scaling</a:t>
              </a: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 of container apps based on various metrics like HTTP concurrency, CPU usage, or event-based triggers, ensuring efficient resource utilization and cost savings.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4C6CDD-1642-8763-0D06-E1F5D705018D}"/>
              </a:ext>
            </a:extLst>
          </p:cNvPr>
          <p:cNvSpPr txBox="1"/>
          <p:nvPr/>
        </p:nvSpPr>
        <p:spPr>
          <a:xfrm>
            <a:off x="3325357" y="3310800"/>
            <a:ext cx="6785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Scalers</a:t>
            </a:r>
            <a:r>
              <a:rPr lang="es-E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| KEDA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2302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1C86D7AF-FE2C-AD00-D900-41B0AE3A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98AF3A91-79E4-1C61-E96D-D32DE24B49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s-E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27A520-AC6A-1AA4-0D3B-6EF0E913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829" y="-13392"/>
            <a:ext cx="6392157" cy="508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1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1975923C-1401-837C-75D6-96C2BCE1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04D05393-B411-FCED-CCA2-9B257DF5889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248355"/>
            <a:ext cx="8124246" cy="1442721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dirty="0">
                <a:solidFill>
                  <a:schemeClr val="accent5"/>
                </a:solidFill>
              </a:rPr>
              <a:t>3. </a:t>
            </a:r>
            <a:r>
              <a:rPr lang="en-US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Overview of .NET Aspire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6687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9363253D-5136-6303-2D61-3795C041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7ABBDF16-1ED3-88F5-5CD7-28E6193CB4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s-ES" dirty="0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BD7FA470-7508-D99B-EF44-B7BC78FF0D03}"/>
              </a:ext>
            </a:extLst>
          </p:cNvPr>
          <p:cNvGrpSpPr/>
          <p:nvPr/>
        </p:nvGrpSpPr>
        <p:grpSpPr>
          <a:xfrm>
            <a:off x="3788229" y="1045447"/>
            <a:ext cx="5822639" cy="1887467"/>
            <a:chOff x="-4968355" y="618523"/>
            <a:chExt cx="11417976" cy="3701253"/>
          </a:xfrm>
        </p:grpSpPr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6F60FAAE-57A1-7F1B-68A0-13CF9BFDFEC2}"/>
                </a:ext>
              </a:extLst>
            </p:cNvPr>
            <p:cNvSpPr txBox="1"/>
            <p:nvPr/>
          </p:nvSpPr>
          <p:spPr>
            <a:xfrm>
              <a:off x="-4968355" y="618523"/>
              <a:ext cx="10192126" cy="108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140"/>
                </a:lnSpc>
              </a:pPr>
              <a:r>
                <a:rPr lang="en-US" sz="2400" b="1" spc="-122" dirty="0">
                  <a:solidFill>
                    <a:srgbClr val="000000"/>
                  </a:solidFill>
                  <a:latin typeface="Kulim Park" panose="020B0604020202020204" charset="0"/>
                  <a:ea typeface="Barlow"/>
                  <a:cs typeface="Barlow"/>
                  <a:sym typeface="Barlow"/>
                </a:rPr>
                <a:t>Building cloud-native applications</a:t>
              </a:r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08AA97F8-9AB1-D942-53A0-F099ECB31FFF}"/>
                </a:ext>
              </a:extLst>
            </p:cNvPr>
            <p:cNvSpPr txBox="1"/>
            <p:nvPr/>
          </p:nvSpPr>
          <p:spPr>
            <a:xfrm>
              <a:off x="-4650179" y="1374227"/>
              <a:ext cx="11099800" cy="67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6"/>
                </a:lnSpc>
              </a:pPr>
              <a:endParaRPr lang="en-US" sz="2176" b="1" spc="-54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endParaRPr>
            </a:p>
          </p:txBody>
        </p:sp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4314643A-A667-F3BF-F00A-93209BEAFE0B}"/>
                </a:ext>
              </a:extLst>
            </p:cNvPr>
            <p:cNvSpPr txBox="1"/>
            <p:nvPr/>
          </p:nvSpPr>
          <p:spPr>
            <a:xfrm>
              <a:off x="-4968355" y="2160238"/>
              <a:ext cx="10192126" cy="21595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89"/>
                </a:lnSpc>
                <a:spcBef>
                  <a:spcPct val="0"/>
                </a:spcBef>
              </a:pP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.NET Aspire offers an </a:t>
              </a:r>
              <a:r>
                <a:rPr lang="en-US" sz="1564" b="1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opinionated stack </a:t>
              </a: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for developing cloud-native applications, providing local orchestration and curated components to streamline the deployment process for .NET developers.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01D49AA-55F8-4E4D-EF9C-50718FFB018C}"/>
              </a:ext>
            </a:extLst>
          </p:cNvPr>
          <p:cNvSpPr txBox="1"/>
          <p:nvPr/>
        </p:nvSpPr>
        <p:spPr>
          <a:xfrm>
            <a:off x="3788229" y="3094449"/>
            <a:ext cx="6785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3"/>
              </a:rPr>
              <a:t>Aspire </a:t>
            </a:r>
            <a:r>
              <a:rPr lang="es-ES" dirty="0" err="1">
                <a:hlinkClick r:id="rId3"/>
              </a:rPr>
              <a:t>documentation</a:t>
            </a:r>
            <a:r>
              <a:rPr lang="es-ES" dirty="0">
                <a:hlinkClick r:id="rId3"/>
              </a:rPr>
              <a:t> | Microsoft </a:t>
            </a:r>
            <a:r>
              <a:rPr lang="es-ES" dirty="0" err="1">
                <a:hlinkClick r:id="rId3"/>
              </a:rPr>
              <a:t>Learn</a:t>
            </a:r>
            <a:endParaRPr lang="es-ES" dirty="0"/>
          </a:p>
        </p:txBody>
      </p:sp>
      <p:pic>
        <p:nvPicPr>
          <p:cNvPr id="2" name="Picture 4" descr="Hello .NET Aspire | Victor Frye">
            <a:extLst>
              <a:ext uri="{FF2B5EF4-FFF2-40B4-BE49-F238E27FC236}">
                <a16:creationId xmlns:a16="http://schemas.microsoft.com/office/drawing/2014/main" id="{5B1D2BD6-AD38-3D52-2FAA-F7610F4A9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26"/>
          <a:stretch>
            <a:fillRect/>
          </a:stretch>
        </p:blipFill>
        <p:spPr bwMode="auto">
          <a:xfrm>
            <a:off x="0" y="1045447"/>
            <a:ext cx="3582477" cy="409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496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E22508D-2C8E-FB54-ADCC-2D026355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492E2CE6-EB98-63D8-2C50-E3F7DBED1E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s-ES" dirty="0"/>
          </a:p>
        </p:txBody>
      </p:sp>
      <p:grpSp>
        <p:nvGrpSpPr>
          <p:cNvPr id="4" name="Group 8">
            <a:extLst>
              <a:ext uri="{FF2B5EF4-FFF2-40B4-BE49-F238E27FC236}">
                <a16:creationId xmlns:a16="http://schemas.microsoft.com/office/drawing/2014/main" id="{9090CB0E-AE07-A634-CB51-5A3EE4D1CC36}"/>
              </a:ext>
            </a:extLst>
          </p:cNvPr>
          <p:cNvGrpSpPr/>
          <p:nvPr/>
        </p:nvGrpSpPr>
        <p:grpSpPr>
          <a:xfrm>
            <a:off x="4139170" y="1019605"/>
            <a:ext cx="5660384" cy="1873450"/>
            <a:chOff x="-4650179" y="629298"/>
            <a:chExt cx="11099800" cy="3673767"/>
          </a:xfrm>
        </p:grpSpPr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3E7DF15C-0793-265F-6420-396A26159E3A}"/>
                </a:ext>
              </a:extLst>
            </p:cNvPr>
            <p:cNvSpPr txBox="1"/>
            <p:nvPr/>
          </p:nvSpPr>
          <p:spPr>
            <a:xfrm>
              <a:off x="-4030848" y="629298"/>
              <a:ext cx="9102066" cy="108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5140"/>
                </a:lnSpc>
              </a:pPr>
              <a:r>
                <a:rPr lang="en-US" sz="2400" b="1" spc="-122" dirty="0">
                  <a:solidFill>
                    <a:srgbClr val="000000"/>
                  </a:solidFill>
                  <a:latin typeface="Kulim Park" panose="020B0604020202020204" charset="0"/>
                  <a:ea typeface="Barlow"/>
                  <a:cs typeface="Barlow"/>
                  <a:sym typeface="Barlow"/>
                </a:rPr>
                <a:t>Aspire Integration with ACA</a:t>
              </a:r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30643A1A-EC72-190C-A545-02C3CEE51C95}"/>
                </a:ext>
              </a:extLst>
            </p:cNvPr>
            <p:cNvSpPr txBox="1"/>
            <p:nvPr/>
          </p:nvSpPr>
          <p:spPr>
            <a:xfrm>
              <a:off x="-4650179" y="1374227"/>
              <a:ext cx="11099800" cy="6753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46"/>
                </a:lnSpc>
              </a:pPr>
              <a:endParaRPr lang="en-US" sz="2176" b="1" spc="-54" dirty="0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endParaRPr>
            </a:p>
          </p:txBody>
        </p:sp>
        <p:sp>
          <p:nvSpPr>
            <p:cNvPr id="7" name="TextBox 11">
              <a:extLst>
                <a:ext uri="{FF2B5EF4-FFF2-40B4-BE49-F238E27FC236}">
                  <a16:creationId xmlns:a16="http://schemas.microsoft.com/office/drawing/2014/main" id="{5FCB63AC-4378-C865-E361-51A9A657DB21}"/>
                </a:ext>
              </a:extLst>
            </p:cNvPr>
            <p:cNvSpPr txBox="1"/>
            <p:nvPr/>
          </p:nvSpPr>
          <p:spPr>
            <a:xfrm>
              <a:off x="-4030848" y="2143527"/>
              <a:ext cx="8882875" cy="21595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189"/>
                </a:lnSpc>
                <a:spcBef>
                  <a:spcPct val="0"/>
                </a:spcBef>
              </a:pP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Leverage </a:t>
              </a:r>
              <a:r>
                <a:rPr lang="en-US" sz="1564" b="1" spc="-39" dirty="0" err="1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Aspire's</a:t>
              </a:r>
              <a:r>
                <a:rPr lang="en-US" sz="1564" b="1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 orchestration </a:t>
              </a:r>
              <a:r>
                <a:rPr lang="en-US" sz="1564" spc="-39" dirty="0">
                  <a:solidFill>
                    <a:srgbClr val="000000"/>
                  </a:solidFill>
                  <a:latin typeface="Kulim Park Light" panose="020B0604020202020204" charset="0"/>
                  <a:ea typeface="Barlow"/>
                  <a:cs typeface="Barlow"/>
                  <a:sym typeface="Barlow"/>
                </a:rPr>
                <a:t>capabilities to deploy microservices efficiently as Azure Container Apps, ensuring a smooth transition from local development to production environments.</a:t>
              </a:r>
            </a:p>
          </p:txBody>
        </p:sp>
      </p:grpSp>
      <p:pic>
        <p:nvPicPr>
          <p:cNvPr id="3" name="Picture 6" descr="NET Aspire 1: What Is .NET Aspire?">
            <a:extLst>
              <a:ext uri="{FF2B5EF4-FFF2-40B4-BE49-F238E27FC236}">
                <a16:creationId xmlns:a16="http://schemas.microsoft.com/office/drawing/2014/main" id="{FBF99AF0-A468-7D08-0451-D2578E5AA6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34"/>
          <a:stretch>
            <a:fillRect/>
          </a:stretch>
        </p:blipFill>
        <p:spPr bwMode="auto">
          <a:xfrm>
            <a:off x="-26185" y="1"/>
            <a:ext cx="4370294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zure Container Apps (@AzContainerApp) / X">
            <a:extLst>
              <a:ext uri="{FF2B5EF4-FFF2-40B4-BE49-F238E27FC236}">
                <a16:creationId xmlns:a16="http://schemas.microsoft.com/office/drawing/2014/main" id="{8A13D57D-452E-32A5-B579-BCD4F7A41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634" y="572156"/>
            <a:ext cx="1357468" cy="1357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2">
            <a:extLst>
              <a:ext uri="{FF2B5EF4-FFF2-40B4-BE49-F238E27FC236}">
                <a16:creationId xmlns:a16="http://schemas.microsoft.com/office/drawing/2014/main" id="{8FDA2B8D-582E-27F6-17FD-25B50D5F0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727" y="3211362"/>
            <a:ext cx="2898207" cy="19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00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A95215C1-5EE0-592E-1F3F-C76C42453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D1CDEDAF-FAD1-BC36-A5CE-BB1F7679B7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s-E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271BCFA-87AB-F94E-4B72-1419B3F6CEB3}"/>
              </a:ext>
            </a:extLst>
          </p:cNvPr>
          <p:cNvSpPr/>
          <p:nvPr/>
        </p:nvSpPr>
        <p:spPr>
          <a:xfrm>
            <a:off x="10680493" y="5683231"/>
            <a:ext cx="213179" cy="189570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B21982-858F-6A1C-9A4D-8CE775EF41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13" y="127990"/>
            <a:ext cx="4505551" cy="198973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DDA2D9-3A58-B274-362C-A56C8BD16F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2379" y="2156324"/>
            <a:ext cx="5152555" cy="285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42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D41D8D4D-C7FD-2A36-8FA8-829CA4BE1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C3192A45-1A91-1D4C-69BD-BC825F9C3F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335819"/>
            <a:ext cx="8124246" cy="135525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dirty="0">
                <a:solidFill>
                  <a:schemeClr val="accent5"/>
                </a:solidFill>
              </a:rPr>
              <a:t>4. </a:t>
            </a:r>
            <a:r>
              <a:rPr lang="en-US" spc="-122" dirty="0" err="1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Dapr</a:t>
            </a:r>
            <a:r>
              <a:rPr lang="en-US" spc="-122" dirty="0">
                <a:solidFill>
                  <a:srgbClr val="000000"/>
                </a:solidFill>
                <a:latin typeface="Kulim Park Light" panose="020B0604020202020204" charset="0"/>
                <a:ea typeface="Barlow"/>
                <a:cs typeface="Barlow"/>
                <a:sym typeface="Barlow"/>
              </a:rPr>
              <a:t> Integration Overview</a:t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3318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2D717C92-2C73-9DE7-B942-E6658666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>
            <a:extLst>
              <a:ext uri="{FF2B5EF4-FFF2-40B4-BE49-F238E27FC236}">
                <a16:creationId xmlns:a16="http://schemas.microsoft.com/office/drawing/2014/main" id="{DF0F52AD-A09A-6177-54B5-56EF70438A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53648" y="4829537"/>
            <a:ext cx="175635" cy="31391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F1F0AD33-8501-9DBA-2FE0-55F472A5D163}"/>
              </a:ext>
            </a:extLst>
          </p:cNvPr>
          <p:cNvSpPr txBox="1">
            <a:spLocks/>
          </p:cNvSpPr>
          <p:nvPr/>
        </p:nvSpPr>
        <p:spPr>
          <a:xfrm>
            <a:off x="387732" y="1858767"/>
            <a:ext cx="2719533" cy="68730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Distributed Application Runtime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4B9327-7D4C-94C5-3115-066BDA0AC2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33" t="18330" r="9333" b="18330"/>
          <a:stretch/>
        </p:blipFill>
        <p:spPr>
          <a:xfrm>
            <a:off x="851356" y="703977"/>
            <a:ext cx="1703461" cy="1326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BD7D0-F6A1-B7A3-BCA4-3C5138E45309}"/>
              </a:ext>
            </a:extLst>
          </p:cNvPr>
          <p:cNvSpPr txBox="1"/>
          <p:nvPr/>
        </p:nvSpPr>
        <p:spPr>
          <a:xfrm>
            <a:off x="1081204" y="2202418"/>
            <a:ext cx="133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dapr.io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5B576-D2B8-1C4E-C6D3-04E30E9AE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6391" y="323594"/>
            <a:ext cx="5702892" cy="444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94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>
          <a:extLst>
            <a:ext uri="{FF2B5EF4-FFF2-40B4-BE49-F238E27FC236}">
              <a16:creationId xmlns:a16="http://schemas.microsoft.com/office/drawing/2014/main" id="{136AE81A-6911-FFCA-A41A-AC74CBFA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>
            <a:extLst>
              <a:ext uri="{FF2B5EF4-FFF2-40B4-BE49-F238E27FC236}">
                <a16:creationId xmlns:a16="http://schemas.microsoft.com/office/drawing/2014/main" id="{45E9E44C-BD37-AE3B-2691-C30DA0E72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853648" y="4829537"/>
            <a:ext cx="175635" cy="31391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5" name="Picture 2" descr="Dapr Platform Engineering Overview">
            <a:extLst>
              <a:ext uri="{FF2B5EF4-FFF2-40B4-BE49-F238E27FC236}">
                <a16:creationId xmlns:a16="http://schemas.microsoft.com/office/drawing/2014/main" id="{DDE5475B-9F1B-2092-789A-EDC78FE7F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81" y="506394"/>
            <a:ext cx="7335838" cy="413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14FD3-D12E-B759-8A61-AFB3CB6283C0}"/>
              </a:ext>
            </a:extLst>
          </p:cNvPr>
          <p:cNvSpPr txBox="1"/>
          <p:nvPr/>
        </p:nvSpPr>
        <p:spPr>
          <a:xfrm>
            <a:off x="1936638" y="137062"/>
            <a:ext cx="485986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0" dirty="0" err="1">
                <a:solidFill>
                  <a:srgbClr val="000000"/>
                </a:solidFill>
                <a:effectLst/>
                <a:latin typeface="Kulim Park" panose="020B0604020202020204" charset="0"/>
              </a:rPr>
              <a:t>Solving</a:t>
            </a:r>
            <a:r>
              <a:rPr lang="es-ES" b="1" i="0" dirty="0">
                <a:solidFill>
                  <a:srgbClr val="000000"/>
                </a:solidFill>
                <a:effectLst/>
                <a:latin typeface="Kulim Park" panose="020B0604020202020204" charset="0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Kulim Park" panose="020B0604020202020204" charset="0"/>
              </a:rPr>
              <a:t>Platform</a:t>
            </a:r>
            <a:r>
              <a:rPr lang="es-ES" b="1" i="0" dirty="0">
                <a:solidFill>
                  <a:srgbClr val="000000"/>
                </a:solidFill>
                <a:effectLst/>
                <a:latin typeface="Kulim Park" panose="020B0604020202020204" charset="0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Kulim Park" panose="020B0604020202020204" charset="0"/>
              </a:rPr>
              <a:t>Engineering</a:t>
            </a:r>
            <a:r>
              <a:rPr lang="es-ES" b="1" i="0" dirty="0">
                <a:solidFill>
                  <a:srgbClr val="000000"/>
                </a:solidFill>
                <a:effectLst/>
                <a:latin typeface="Kulim Park" panose="020B0604020202020204" charset="0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Kulim Park" panose="020B0604020202020204" charset="0"/>
              </a:rPr>
              <a:t>Challenges</a:t>
            </a:r>
            <a:endParaRPr lang="es-ES" b="1" i="0" dirty="0">
              <a:solidFill>
                <a:srgbClr val="000000"/>
              </a:solidFill>
              <a:effectLst/>
              <a:latin typeface="Kulim Park" panose="020B0604020202020204" charset="0"/>
            </a:endParaRP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4913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ctrTitle" idx="4294967295"/>
          </p:nvPr>
        </p:nvSpPr>
        <p:spPr>
          <a:xfrm>
            <a:off x="2404575" y="2644150"/>
            <a:ext cx="4334400" cy="784800"/>
          </a:xfrm>
          <a:prstGeom prst="rect">
            <a:avLst/>
          </a:prstGeom>
          <a:effectLst>
            <a:outerShdw blurRad="142875" dist="381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lt1"/>
                </a:solidFill>
              </a:rPr>
              <a:t>DEMO TIME!</a:t>
            </a:r>
            <a:endParaRPr sz="6000" dirty="0">
              <a:solidFill>
                <a:schemeClr val="lt1"/>
              </a:solidFill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01918" y="2397498"/>
            <a:ext cx="255593" cy="24404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" name="Google Shape;194;p20"/>
          <p:cNvGrpSpPr/>
          <p:nvPr/>
        </p:nvGrpSpPr>
        <p:grpSpPr>
          <a:xfrm>
            <a:off x="4484596" y="1027067"/>
            <a:ext cx="1094956" cy="1095228"/>
            <a:chOff x="6654650" y="3665275"/>
            <a:chExt cx="409100" cy="409125"/>
          </a:xfrm>
        </p:grpSpPr>
        <p:sp>
          <p:nvSpPr>
            <p:cNvPr id="195" name="Google Shape;195;p2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20"/>
          <p:cNvGrpSpPr/>
          <p:nvPr/>
        </p:nvGrpSpPr>
        <p:grpSpPr>
          <a:xfrm rot="1057000">
            <a:off x="3429567" y="1888291"/>
            <a:ext cx="723436" cy="723492"/>
            <a:chOff x="570875" y="4322250"/>
            <a:chExt cx="443300" cy="443325"/>
          </a:xfrm>
        </p:grpSpPr>
        <p:sp>
          <p:nvSpPr>
            <p:cNvPr id="198" name="Google Shape;198;p20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  <a:effectLst>
              <a:outerShdw blurRad="228600" dist="7620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" name="Google Shape;202;p20"/>
          <p:cNvSpPr/>
          <p:nvPr/>
        </p:nvSpPr>
        <p:spPr>
          <a:xfrm rot="2466570">
            <a:off x="3510625" y="1239359"/>
            <a:ext cx="355107" cy="33906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 rot="-1609390">
            <a:off x="4029945" y="1452685"/>
            <a:ext cx="255567" cy="2439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 rot="2926158">
            <a:off x="5579395" y="1646000"/>
            <a:ext cx="191399" cy="18275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 rot="-1609432">
            <a:off x="4512553" y="969735"/>
            <a:ext cx="172415" cy="16462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228600" dist="7620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>
            <a:spLocks noGrp="1"/>
          </p:cNvSpPr>
          <p:nvPr>
            <p:ph type="ctrTitle" idx="4294967295"/>
          </p:nvPr>
        </p:nvSpPr>
        <p:spPr>
          <a:xfrm>
            <a:off x="2140050" y="1965325"/>
            <a:ext cx="4863900" cy="768900"/>
          </a:xfrm>
          <a:prstGeom prst="rect">
            <a:avLst/>
          </a:prstGeom>
          <a:effectLst>
            <a:outerShdw blurRad="257175" dist="76200" dir="5400000" algn="bl" rotWithShape="0">
              <a:schemeClr val="dk1">
                <a:alpha val="64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Thanks!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404" name="Google Shape;404;p36"/>
          <p:cNvSpPr txBox="1">
            <a:spLocks noGrp="1"/>
          </p:cNvSpPr>
          <p:nvPr>
            <p:ph type="body" idx="4294967295"/>
          </p:nvPr>
        </p:nvSpPr>
        <p:spPr>
          <a:xfrm>
            <a:off x="2140050" y="2714375"/>
            <a:ext cx="4863900" cy="10734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5"/>
                </a:solidFill>
                <a:latin typeface="Kulim Park"/>
                <a:ea typeface="Kulim Park"/>
                <a:cs typeface="Kulim Park"/>
                <a:sym typeface="Kulim Park"/>
              </a:rPr>
              <a:t>Any questions?</a:t>
            </a:r>
            <a:endParaRPr sz="2400" b="1">
              <a:solidFill>
                <a:schemeClr val="accent5"/>
              </a:solidFill>
              <a:latin typeface="Kulim Park"/>
              <a:ea typeface="Kulim Park"/>
              <a:cs typeface="Kulim Park"/>
              <a:sym typeface="Kulim Park"/>
            </a:endParaRPr>
          </a:p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You can find me at: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@username · user@mail.me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05" name="Google Shape;4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4213974" y="1183225"/>
            <a:ext cx="716103" cy="642884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300038" dist="95250" dir="5400000" algn="bl" rotWithShape="0">
              <a:schemeClr val="dk1">
                <a:alpha val="6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585BB513-A810-ABE9-8BA4-AA3466FE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059F31C7-A0DA-52B4-F3F3-AB27E1FB73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grpSp>
        <p:nvGrpSpPr>
          <p:cNvPr id="215" name="Google Shape;215;p21">
            <a:extLst>
              <a:ext uri="{FF2B5EF4-FFF2-40B4-BE49-F238E27FC236}">
                <a16:creationId xmlns:a16="http://schemas.microsoft.com/office/drawing/2014/main" id="{73961E10-E3D4-CF1E-20E9-CDE0228B8BA3}"/>
              </a:ext>
            </a:extLst>
          </p:cNvPr>
          <p:cNvGrpSpPr/>
          <p:nvPr/>
        </p:nvGrpSpPr>
        <p:grpSpPr>
          <a:xfrm>
            <a:off x="7843600" y="2775995"/>
            <a:ext cx="1063404" cy="1257267"/>
            <a:chOff x="7843600" y="2775995"/>
            <a:chExt cx="1063404" cy="1257267"/>
          </a:xfrm>
        </p:grpSpPr>
        <p:sp>
          <p:nvSpPr>
            <p:cNvPr id="216" name="Google Shape;216;p21">
              <a:extLst>
                <a:ext uri="{FF2B5EF4-FFF2-40B4-BE49-F238E27FC236}">
                  <a16:creationId xmlns:a16="http://schemas.microsoft.com/office/drawing/2014/main" id="{7F943CD1-B234-A8EA-E67D-17754657B924}"/>
                </a:ext>
              </a:extLst>
            </p:cNvPr>
            <p:cNvSpPr/>
            <p:nvPr/>
          </p:nvSpPr>
          <p:spPr>
            <a:xfrm>
              <a:off x="8317077" y="3538745"/>
              <a:ext cx="116450" cy="494517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1">
              <a:extLst>
                <a:ext uri="{FF2B5EF4-FFF2-40B4-BE49-F238E27FC236}">
                  <a16:creationId xmlns:a16="http://schemas.microsoft.com/office/drawing/2014/main" id="{E4ECE619-D537-6113-89B2-FDC60B114E90}"/>
                </a:ext>
              </a:extLst>
            </p:cNvPr>
            <p:cNvSpPr/>
            <p:nvPr/>
          </p:nvSpPr>
          <p:spPr>
            <a:xfrm>
              <a:off x="7843600" y="3242988"/>
              <a:ext cx="985792" cy="257051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#Thanks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18" name="Google Shape;218;p21">
              <a:extLst>
                <a:ext uri="{FF2B5EF4-FFF2-40B4-BE49-F238E27FC236}">
                  <a16:creationId xmlns:a16="http://schemas.microsoft.com/office/drawing/2014/main" id="{E0EE33A7-BD34-F84B-2110-50FB2602FDEE}"/>
                </a:ext>
              </a:extLst>
            </p:cNvPr>
            <p:cNvSpPr/>
            <p:nvPr/>
          </p:nvSpPr>
          <p:spPr>
            <a:xfrm>
              <a:off x="8317077" y="2775995"/>
              <a:ext cx="116450" cy="132595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9" name="Google Shape;219;p21">
              <a:extLst>
                <a:ext uri="{FF2B5EF4-FFF2-40B4-BE49-F238E27FC236}">
                  <a16:creationId xmlns:a16="http://schemas.microsoft.com/office/drawing/2014/main" id="{94112C33-A713-013B-0E45-9310F908F500}"/>
                </a:ext>
              </a:extLst>
            </p:cNvPr>
            <p:cNvSpPr/>
            <p:nvPr/>
          </p:nvSpPr>
          <p:spPr>
            <a:xfrm>
              <a:off x="7921212" y="2947296"/>
              <a:ext cx="985792" cy="256985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Sponsors</a:t>
              </a:r>
              <a:endParaRPr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AF798103-30BF-1F29-4DE0-9389C60C1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8255"/>
            <a:ext cx="6172200" cy="405700"/>
          </a:xfrm>
        </p:spPr>
        <p:txBody>
          <a:bodyPr/>
          <a:lstStyle/>
          <a:p>
            <a:r>
              <a:rPr lang="es-ES" dirty="0">
                <a:latin typeface="Jumble" panose="02000503000000020004" pitchFamily="2" charset="0"/>
              </a:rPr>
              <a:t>NUESTROS PATROCINADORES</a:t>
            </a:r>
            <a:endParaRPr lang="en-US" dirty="0">
              <a:latin typeface="Jumble" panose="02000503000000020004" pitchFamily="2" charset="0"/>
            </a:endParaRPr>
          </a:p>
        </p:txBody>
      </p:sp>
      <p:pic>
        <p:nvPicPr>
          <p:cNvPr id="21" name="Imagen 2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051FF074-DC21-13C2-A332-BEF6D856D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65" y="234303"/>
            <a:ext cx="985792" cy="996122"/>
          </a:xfrm>
          <a:prstGeom prst="rect">
            <a:avLst/>
          </a:prstGeom>
        </p:spPr>
      </p:pic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C3EAD35B-B492-86A0-DCAA-61721C1DA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196" y="1501851"/>
            <a:ext cx="2224253" cy="74350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8D73CAF1-C3F3-DB8A-20D9-3B5A829F6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133" y="2216540"/>
            <a:ext cx="2955867" cy="1461512"/>
          </a:xfrm>
          <a:prstGeom prst="rect">
            <a:avLst/>
          </a:prstGeom>
        </p:spPr>
      </p:pic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F0066D61-87D0-BBC6-96E8-89349CC2B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105" y="2541766"/>
            <a:ext cx="2982992" cy="298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94670"/>
      </p:ext>
    </p:extLst>
  </p:cSld>
  <p:clrMapOvr>
    <a:masterClrMapping/>
  </p:clrMapOvr>
</p:sld>
</file>

<file path=ppt/theme/theme1.xml><?xml version="1.0" encoding="utf-8"?>
<a:theme xmlns:a="http://schemas.openxmlformats.org/drawingml/2006/main" name="Volumnia template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1430</Words>
  <Application>Microsoft Office PowerPoint</Application>
  <PresentationFormat>On-screen Show (16:9)</PresentationFormat>
  <Paragraphs>215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Kulim Park</vt:lpstr>
      <vt:lpstr>Kulim Park Light</vt:lpstr>
      <vt:lpstr>Segoe UI Semibold</vt:lpstr>
      <vt:lpstr>Arial</vt:lpstr>
      <vt:lpstr>Segoe UI Light</vt:lpstr>
      <vt:lpstr>Arial Rounded MT Bold</vt:lpstr>
      <vt:lpstr>noto sans</vt:lpstr>
      <vt:lpstr>Segoe UI</vt:lpstr>
      <vt:lpstr>Calibri</vt:lpstr>
      <vt:lpstr>Barlow Bold</vt:lpstr>
      <vt:lpstr>Jumble</vt:lpstr>
      <vt:lpstr>Volumnia template</vt:lpstr>
      <vt:lpstr>TENERIFE WINTER   </vt:lpstr>
      <vt:lpstr>NUESTROS PATROCINADORES</vt:lpstr>
      <vt:lpstr>PowerPoint Presentation</vt:lpstr>
      <vt:lpstr>PowerPoint Presentation</vt:lpstr>
      <vt:lpstr>Let’s play!</vt:lpstr>
      <vt:lpstr>1. What is Azure Container Apps? </vt:lpstr>
      <vt:lpstr>What is Azure Container Apps?</vt:lpstr>
      <vt:lpstr>Key Benefits for .NET Teams</vt:lpstr>
      <vt:lpstr>Comparing ACA, AKS, and App Service</vt:lpstr>
      <vt:lpstr>Comparing ACA, AKS, and App Service</vt:lpstr>
      <vt:lpstr>Comparing ACA, AKS, and App Service</vt:lpstr>
      <vt:lpstr>Core Concepts of ACA</vt:lpstr>
      <vt:lpstr>PowerPoint Presentation</vt:lpstr>
      <vt:lpstr>PowerPoint Presentation</vt:lpstr>
      <vt:lpstr>2. Understanding Autoscaling with KEDA </vt:lpstr>
      <vt:lpstr>PowerPoint Presentation</vt:lpstr>
      <vt:lpstr>PowerPoint Presentation</vt:lpstr>
      <vt:lpstr>3. Overview of .NET Aspire </vt:lpstr>
      <vt:lpstr>PowerPoint Presentation</vt:lpstr>
      <vt:lpstr>PowerPoint Presentation</vt:lpstr>
      <vt:lpstr>PowerPoint Presentation</vt:lpstr>
      <vt:lpstr>4. Dapr Integration Overview </vt:lpstr>
      <vt:lpstr>PowerPoint Presentation</vt:lpstr>
      <vt:lpstr>PowerPoint Presentation</vt:lpstr>
      <vt:lpstr>DEMO TIME!</vt:lpstr>
      <vt:lpstr>Thanks!</vt:lpstr>
      <vt:lpstr>NUESTROS PATROCINADORES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Saturday Live  2021</dc:title>
  <cp:lastModifiedBy>Sergio Parra Guerra</cp:lastModifiedBy>
  <cp:revision>33</cp:revision>
  <dcterms:modified xsi:type="dcterms:W3CDTF">2026-02-03T17:02:37Z</dcterms:modified>
</cp:coreProperties>
</file>